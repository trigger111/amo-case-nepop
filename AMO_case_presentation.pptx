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033" autoAdjust="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Основа</c:v>
          </c:tx>
          <c:spPr>
            <a:solidFill>
              <a:srgbClr val="FFFFFF"/>
            </a:solidFill>
            <a:ln w="0">
              <a:noFill/>
              <a:prstDash val="solid"/>
            </a:ln>
          </c:spPr>
          <c:invertIfNegative val="1"/>
          <c:cat>
            <c:strLit>
              <c:ptCount val="7"/>
              <c:pt idx="0">
                <c:v>Очікування</c:v>
              </c:pt>
              <c:pt idx="1">
                <c:v>Продовження</c:v>
              </c:pt>
              <c:pt idx="2">
                <c:v>$15: ціна</c:v>
              </c:pt>
              <c:pt idx="3">
                <c:v>$15: частота</c:v>
              </c:pt>
              <c:pt idx="4">
                <c:v>Повернення</c:v>
              </c:pt>
              <c:pt idx="5">
                <c:v>Спірні</c:v>
              </c:pt>
              <c:pt idx="6">
                <c:v>Факт</c:v>
              </c:pt>
            </c:strLit>
          </c:cat>
          <c:val>
            <c:numLit>
              <c:formatCode>General</c:formatCode>
              <c:ptCount val="7"/>
              <c:pt idx="0">
                <c:v>0</c:v>
              </c:pt>
              <c:pt idx="1">
                <c:v>20.63</c:v>
              </c:pt>
              <c:pt idx="2">
                <c:v>19.100000000000001</c:v>
              </c:pt>
              <c:pt idx="3">
                <c:v>18.16</c:v>
              </c:pt>
              <c:pt idx="4">
                <c:v>17.760000000000002</c:v>
              </c:pt>
              <c:pt idx="5">
                <c:v>17.72</c:v>
              </c:pt>
              <c:pt idx="6">
                <c:v>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FB8-4726-951A-DC21460987AD}"/>
            </c:ext>
          </c:extLst>
        </c:ser>
        <c:ser>
          <c:idx val="1"/>
          <c:order val="1"/>
          <c:tx>
            <c:v>Зміна</c:v>
          </c:tx>
          <c:spPr>
            <a:solidFill>
              <a:srgbClr val="D55E00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9E9E9E"/>
              </a:solidFill>
            </c:spPr>
            <c:extLst>
              <c:ext xmlns:c16="http://schemas.microsoft.com/office/drawing/2014/chart" uri="{C3380CC4-5D6E-409C-BE32-E72D297353CC}">
                <c16:uniqueId val="{00000002-7FB8-4726-951A-DC21460987AD}"/>
              </c:ext>
            </c:extLst>
          </c:dPt>
          <c:dPt>
            <c:idx val="1"/>
            <c:invertIfNegative val="1"/>
            <c:bubble3D val="0"/>
            <c:spPr>
              <a:solidFill>
                <a:srgbClr val="D55E00"/>
              </a:solidFill>
            </c:spPr>
            <c:extLst>
              <c:ext xmlns:c16="http://schemas.microsoft.com/office/drawing/2014/chart" uri="{C3380CC4-5D6E-409C-BE32-E72D297353CC}">
                <c16:uniqueId val="{00000004-7FB8-4726-951A-DC21460987AD}"/>
              </c:ext>
            </c:extLst>
          </c:dPt>
          <c:dPt>
            <c:idx val="2"/>
            <c:invertIfNegative val="1"/>
            <c:bubble3D val="0"/>
            <c:spPr>
              <a:solidFill>
                <a:srgbClr val="D55E00"/>
              </a:solidFill>
            </c:spPr>
            <c:extLst>
              <c:ext xmlns:c16="http://schemas.microsoft.com/office/drawing/2014/chart" uri="{C3380CC4-5D6E-409C-BE32-E72D297353CC}">
                <c16:uniqueId val="{00000006-7FB8-4726-951A-DC21460987AD}"/>
              </c:ext>
            </c:extLst>
          </c:dPt>
          <c:dPt>
            <c:idx val="3"/>
            <c:invertIfNegative val="1"/>
            <c:bubble3D val="0"/>
            <c:spPr>
              <a:solidFill>
                <a:srgbClr val="D55E00"/>
              </a:solidFill>
            </c:spPr>
            <c:extLst>
              <c:ext xmlns:c16="http://schemas.microsoft.com/office/drawing/2014/chart" uri="{C3380CC4-5D6E-409C-BE32-E72D297353CC}">
                <c16:uniqueId val="{00000008-7FB8-4726-951A-DC21460987AD}"/>
              </c:ext>
            </c:extLst>
          </c:dPt>
          <c:dPt>
            <c:idx val="4"/>
            <c:invertIfNegative val="1"/>
            <c:bubble3D val="0"/>
            <c:spPr>
              <a:solidFill>
                <a:srgbClr val="D55E00"/>
              </a:solidFill>
            </c:spPr>
            <c:extLst>
              <c:ext xmlns:c16="http://schemas.microsoft.com/office/drawing/2014/chart" uri="{C3380CC4-5D6E-409C-BE32-E72D297353CC}">
                <c16:uniqueId val="{0000000A-7FB8-4726-951A-DC21460987AD}"/>
              </c:ext>
            </c:extLst>
          </c:dPt>
          <c:dPt>
            <c:idx val="5"/>
            <c:invertIfNegative val="1"/>
            <c:bubble3D val="0"/>
            <c:spPr>
              <a:solidFill>
                <a:srgbClr val="D55E00"/>
              </a:solidFill>
            </c:spPr>
            <c:extLst>
              <c:ext xmlns:c16="http://schemas.microsoft.com/office/drawing/2014/chart" uri="{C3380CC4-5D6E-409C-BE32-E72D297353CC}">
                <c16:uniqueId val="{0000000C-7FB8-4726-951A-DC21460987AD}"/>
              </c:ext>
            </c:extLst>
          </c:dPt>
          <c:dPt>
            <c:idx val="6"/>
            <c:invertIfNegative val="1"/>
            <c:bubble3D val="0"/>
            <c:spPr>
              <a:solidFill>
                <a:srgbClr val="E69F00"/>
              </a:solidFill>
            </c:spPr>
            <c:extLst>
              <c:ext xmlns:c16="http://schemas.microsoft.com/office/drawing/2014/chart" uri="{C3380CC4-5D6E-409C-BE32-E72D297353CC}">
                <c16:uniqueId val="{0000000E-7FB8-4726-951A-DC21460987AD}"/>
              </c:ext>
            </c:extLst>
          </c:dPt>
          <c:cat>
            <c:strLit>
              <c:ptCount val="7"/>
              <c:pt idx="0">
                <c:v>Очікування</c:v>
              </c:pt>
              <c:pt idx="1">
                <c:v>Продовження</c:v>
              </c:pt>
              <c:pt idx="2">
                <c:v>$15: ціна</c:v>
              </c:pt>
              <c:pt idx="3">
                <c:v>$15: частота</c:v>
              </c:pt>
              <c:pt idx="4">
                <c:v>Повернення</c:v>
              </c:pt>
              <c:pt idx="5">
                <c:v>Спірні</c:v>
              </c:pt>
              <c:pt idx="6">
                <c:v>Факт</c:v>
              </c:pt>
            </c:strLit>
          </c:cat>
          <c:val>
            <c:numLit>
              <c:formatCode>General</c:formatCode>
              <c:ptCount val="7"/>
              <c:pt idx="0">
                <c:v>24.71</c:v>
              </c:pt>
              <c:pt idx="1">
                <c:v>4.08</c:v>
              </c:pt>
              <c:pt idx="2">
                <c:v>1.53</c:v>
              </c:pt>
              <c:pt idx="3">
                <c:v>0.94</c:v>
              </c:pt>
              <c:pt idx="4">
                <c:v>0.4</c:v>
              </c:pt>
              <c:pt idx="5">
                <c:v>0.04</c:v>
              </c:pt>
              <c:pt idx="6">
                <c:v>17.72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F-7FB8-4726-951A-DC21460987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666666"/>
                </a:solidFill>
              </a:defRPr>
            </a:pPr>
            <a:endParaRPr lang="uk-UA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27"/>
          <c:min val="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0">
            <a:noFill/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uk-UA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6.99</c:v>
          </c:tx>
          <c:spPr>
            <a:solidFill>
              <a:srgbClr val="0072B2"/>
            </a:solidFill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825" b="1">
                    <a:solidFill>
                      <a:srgbClr val="27313C"/>
                    </a:solidFill>
                  </a:defRPr>
                </a:pPr>
                <a:endParaRPr lang="uk-UA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EU</c:v>
              </c:pt>
              <c:pt idx="1">
                <c:v>Інші ринки</c:v>
              </c:pt>
              <c:pt idx="2">
                <c:v>USA</c:v>
              </c:pt>
            </c:strLit>
          </c:cat>
          <c:val>
            <c:numLit>
              <c:formatCode>\$0.00</c:formatCode>
              <c:ptCount val="3"/>
              <c:pt idx="0">
                <c:v>17.11</c:v>
              </c:pt>
              <c:pt idx="1">
                <c:v>19.100000000000001</c:v>
              </c:pt>
              <c:pt idx="2">
                <c:v>17.37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BD-4E32-9E03-0303C740102A}"/>
            </c:ext>
          </c:extLst>
        </c:ser>
        <c:ser>
          <c:idx val="1"/>
          <c:order val="1"/>
          <c:tx>
            <c:v>9.99</c:v>
          </c:tx>
          <c:spPr>
            <a:solidFill>
              <a:srgbClr val="E69F00"/>
            </a:solidFill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825" b="1">
                    <a:solidFill>
                      <a:srgbClr val="27313C"/>
                    </a:solidFill>
                  </a:defRPr>
                </a:pPr>
                <a:endParaRPr lang="uk-UA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EU</c:v>
              </c:pt>
              <c:pt idx="1">
                <c:v>Інші ринки</c:v>
              </c:pt>
              <c:pt idx="2">
                <c:v>USA</c:v>
              </c:pt>
            </c:strLit>
          </c:cat>
          <c:val>
            <c:numLit>
              <c:formatCode>\$0.00</c:formatCode>
              <c:ptCount val="3"/>
              <c:pt idx="0">
                <c:v>16.71</c:v>
              </c:pt>
              <c:pt idx="1">
                <c:v>21.68</c:v>
              </c:pt>
              <c:pt idx="2">
                <c:v>20.2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BD-4E32-9E03-0303C740102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666666"/>
                </a:solidFill>
              </a:defRPr>
            </a:pPr>
            <a:endParaRPr lang="uk-UA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2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lang="uk-UA" sz="900">
                    <a:solidFill>
                      <a:srgbClr val="27313C"/>
                    </a:solidFill>
                  </a:rPr>
                  <a:t> </a:t>
                </a:r>
              </a:p>
            </c:rich>
          </c:tx>
          <c:overlay val="1"/>
        </c:title>
        <c:numFmt formatCode="\$0.00" sourceLinked="1"/>
        <c:majorTickMark val="none"/>
        <c:minorTickMark val="none"/>
        <c:tickLblPos val="none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77777"/>
                </a:solidFill>
              </a:defRPr>
            </a:pPr>
            <a:endParaRPr lang="uk-UA"/>
          </a:p>
        </c:txPr>
        <c:crossAx val="48650112"/>
        <c:crosses val="autoZero"/>
        <c:crossBetween val="between"/>
        <c:majorUnit val="5"/>
      </c:valAx>
      <c:spPr>
        <a:noFill/>
        <a:ln w="0">
          <a:noFill/>
          <a:prstDash val="solid"/>
        </a:ln>
      </c:spPr>
    </c:plotArea>
    <c:legend>
      <c:legendPos val="t"/>
      <c:overlay val="0"/>
      <c:txPr>
        <a:bodyPr anchorCtr="1"/>
        <a:lstStyle/>
        <a:p>
          <a:pPr>
            <a:defRPr sz="900">
              <a:solidFill>
                <a:srgbClr val="27313C"/>
              </a:solidFill>
            </a:defRPr>
          </a:pPr>
          <a:endParaRPr lang="uk-UA"/>
        </a:p>
      </c:txPr>
    </c:legend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Виручка</c:v>
          </c:tx>
          <c:spPr>
            <a:solidFill>
              <a:srgbClr val="0072B2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0072B2"/>
              </a:solidFill>
            </c:spPr>
            <c:extLst>
              <c:ext xmlns:c16="http://schemas.microsoft.com/office/drawing/2014/chart" uri="{C3380CC4-5D6E-409C-BE32-E72D297353CC}">
                <c16:uniqueId val="{00000001-7E67-433A-BDD1-ECCDF001095C}"/>
              </c:ext>
            </c:extLst>
          </c:dPt>
          <c:dPt>
            <c:idx val="1"/>
            <c:invertIfNegative val="1"/>
            <c:bubble3D val="0"/>
            <c:spPr>
              <a:solidFill>
                <a:srgbClr val="E69F00"/>
              </a:solidFill>
            </c:spPr>
            <c:extLst>
              <c:ext xmlns:c16="http://schemas.microsoft.com/office/drawing/2014/chart" uri="{C3380CC4-5D6E-409C-BE32-E72D297353CC}">
                <c16:uniqueId val="{00000003-7E67-433A-BDD1-ECCDF001095C}"/>
              </c:ext>
            </c:extLst>
          </c:dPt>
          <c:dPt>
            <c:idx val="2"/>
            <c:invertIfNegative val="1"/>
            <c:bubble3D val="0"/>
            <c:spPr>
              <a:solidFill>
                <a:srgbClr val="BDBDBD"/>
              </a:solidFill>
            </c:spPr>
            <c:extLst>
              <c:ext xmlns:c16="http://schemas.microsoft.com/office/drawing/2014/chart" uri="{C3380CC4-5D6E-409C-BE32-E72D297353CC}">
                <c16:uniqueId val="{00000005-7E67-433A-BDD1-ECCDF001095C}"/>
              </c:ext>
            </c:extLst>
          </c:dPt>
          <c:cat>
            <c:strLit>
              <c:ptCount val="3"/>
              <c:pt idx="0">
                <c:v>Без підвищення
(6.99)</c:v>
              </c:pt>
              <c:pt idx="1">
                <c:v>Факт
(9.99)</c:v>
              </c:pt>
              <c:pt idx="2">
                <c:v>Очікування
(+42.9%)</c:v>
              </c:pt>
            </c:strLit>
          </c:cat>
          <c:val>
            <c:numLit>
              <c:formatCode>0.0</c:formatCode>
              <c:ptCount val="3"/>
              <c:pt idx="0">
                <c:v>1.32</c:v>
              </c:pt>
              <c:pt idx="1">
                <c:v>1.43</c:v>
              </c:pt>
              <c:pt idx="2">
                <c:v>1.89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6-7E67-433A-BDD1-ECCDF00109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666666"/>
                </a:solidFill>
              </a:defRPr>
            </a:pPr>
            <a:endParaRPr lang="uk-UA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2.1"/>
          <c:min val="0"/>
        </c:scaling>
        <c:delete val="0"/>
        <c:axPos val="l"/>
        <c:majorGridlines>
          <c:spPr>
            <a:ln w="9525">
              <a:solidFill>
                <a:srgbClr val="E3E3E3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ru-RU" sz="750">
                    <a:solidFill>
                      <a:srgbClr val="666666"/>
                    </a:solidFill>
                  </a:rPr>
                  <a:t>Виручка за 7 тижнів, $M</a:t>
                </a:r>
              </a:p>
            </c:rich>
          </c:tx>
          <c:overlay val="1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77777"/>
                </a:solidFill>
              </a:defRPr>
            </a:pPr>
            <a:endParaRPr lang="uk-UA"/>
          </a:p>
        </c:txPr>
        <c:crossAx val="48650112"/>
        <c:crosses val="autoZero"/>
        <c:crossBetween val="between"/>
        <c:majorUnit val="0.5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6.99</c:v>
          </c:tx>
          <c:spPr>
            <a:solidFill>
              <a:srgbClr val="0072B2"/>
            </a:solidFill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825" b="1">
                    <a:solidFill>
                      <a:srgbClr val="27313C"/>
                    </a:solidFill>
                  </a:defRPr>
                </a:pPr>
                <a:endParaRPr lang="uk-UA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EU</c:v>
              </c:pt>
              <c:pt idx="1">
                <c:v>USA</c:v>
              </c:pt>
              <c:pt idx="2">
                <c:v>Tier1</c:v>
              </c:pt>
            </c:strLit>
          </c:cat>
          <c:val>
            <c:numLit>
              <c:formatCode>0.00</c:formatCode>
              <c:ptCount val="3"/>
              <c:pt idx="0">
                <c:v>1.39</c:v>
              </c:pt>
              <c:pt idx="1">
                <c:v>1.97</c:v>
              </c:pt>
              <c:pt idx="2">
                <c:v>1.77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6E6-4D3B-906B-EC789B9F0CC2}"/>
            </c:ext>
          </c:extLst>
        </c:ser>
        <c:ser>
          <c:idx val="1"/>
          <c:order val="1"/>
          <c:tx>
            <c:v>9.99</c:v>
          </c:tx>
          <c:spPr>
            <a:solidFill>
              <a:srgbClr val="E69F00"/>
            </a:solidFill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825" b="1">
                    <a:solidFill>
                      <a:srgbClr val="27313C"/>
                    </a:solidFill>
                  </a:defRPr>
                </a:pPr>
                <a:endParaRPr lang="uk-UA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EU</c:v>
              </c:pt>
              <c:pt idx="1">
                <c:v>USA</c:v>
              </c:pt>
              <c:pt idx="2">
                <c:v>Tier1</c:v>
              </c:pt>
            </c:strLit>
          </c:cat>
          <c:val>
            <c:numLit>
              <c:formatCode>0.00</c:formatCode>
              <c:ptCount val="3"/>
              <c:pt idx="0">
                <c:v>1.2</c:v>
              </c:pt>
              <c:pt idx="1">
                <c:v>1.95</c:v>
              </c:pt>
              <c:pt idx="2">
                <c:v>1.86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6E6-4D3B-906B-EC789B9F0CC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D9D9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666666"/>
                </a:solidFill>
              </a:defRPr>
            </a:pPr>
            <a:endParaRPr lang="uk-UA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lang="uk-UA" sz="825">
                    <a:solidFill>
                      <a:srgbClr val="27313C"/>
                    </a:solidFill>
                  </a:rPr>
                  <a:t> </a:t>
                </a:r>
              </a:p>
            </c:rich>
          </c:tx>
          <c:overlay val="1"/>
        </c:title>
        <c:numFmt formatCode="0.00" sourceLinked="1"/>
        <c:majorTickMark val="none"/>
        <c:minorTickMark val="none"/>
        <c:tickLblPos val="none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77777"/>
                </a:solidFill>
              </a:defRPr>
            </a:pPr>
            <a:endParaRPr lang="uk-UA"/>
          </a:p>
        </c:txPr>
        <c:crossAx val="48650112"/>
        <c:crosses val="autoZero"/>
        <c:crossBetween val="between"/>
        <c:majorUnit val="0.5"/>
      </c:valAx>
      <c:spPr>
        <a:noFill/>
        <a:ln w="0">
          <a:noFill/>
          <a:prstDash val="solid"/>
        </a:ln>
      </c:spPr>
    </c:plotArea>
    <c:legend>
      <c:legendPos val="t"/>
      <c:overlay val="0"/>
      <c:txPr>
        <a:bodyPr anchorCtr="1"/>
        <a:lstStyle/>
        <a:p>
          <a:pPr>
            <a:defRPr sz="825">
              <a:solidFill>
                <a:srgbClr val="27313C"/>
              </a:solidFill>
            </a:defRPr>
          </a:pPr>
          <a:endParaRPr lang="uk-UA"/>
        </a:p>
      </c:txPr>
    </c:legend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Пів року тому компанія підняла ціну на 42.9%, бо тест показав, що конверсія не впала. CEO не бачить цих відсотків у виручці. Я перевірив повний ланцюжок: конверсію, LTV, фактичний Revenue і окупність реклами. Коротка відповідь: гроші серед спостережених платників виросли, але в рази слабше за обіцянку — LTV лише +2.5% — а в Європі спостережена 9.99-когорта має нижчий LTV.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Контекст: рішення ухвалили за однією метрикою — конверсією. Одночасно три команди скаржаться на симптоми. Моє завдання — перевірити рішення по всьому ланцюжку грошей.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Якщо запам'ятати один слайд — цей. Серед спостережених платників дохід за 49 днів виріс лише на 2.5% замість 42.9%. За моделлю отримали близько 19% очікуваного приросту: приблизно 107 тисяч із 568 тисяч. У EU клієнти на 9.99 принесли на 2.3% менше. Технічна перевірка: оцінка грошей стійка в діапазоні 93–109 тисяч; 95% CI різниці LTV у EU [−0.71; −0.09], але rollout не доводить причинність.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Чотири проблеми даних знайдено і виправлено. Видалено 1 131 дубль, виключено два некоректні дні, валідне вікно — 11–24 січня. Tier1 не отримав нову ціну і став випадковим A/A-контролем. Технічна перевірка Tier1: конверсія p=0.78, доплата p=0.93, CPC −1.9%; це не повний доказ якості всієї системи, але системного збою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керівництва на слайді залишено лише масштаб зміни. Технічні результати: EU p=0.342, 95% CI [−0.58; +0.20] п.п.; USA p=0.043, 95% CI [−1.00; −0.02] п.п. Це слабкий сигнал малого падіння, який не проходить поправку на множинні порівняння. p-value показує, наскільки незвичні дані за припущення відсутності різниці; він не доводить рівність. Формальний non-inferiority висновок неможливий без наперед заданої межі.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Доплата $15 показується лише після основної покупки. У EU частка покупців доплати впала з 24.6% до 16.8%: −7.8 п.п., або −32% відносно; p&lt;0.0001, 95% CI [−10.7; −4.9] п.п. У USA напрямок теж негативний, але статистично невпевнений. Tier1, де ціна не змінилась, залишився практично без змін.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П'ята частина доходу з платника — фіксована доплата $15, яка не змінюється разом із ціною підписки. Тому чиста арифметика дає максимум 42.9% × 79% = 33.9%, тобто близько 34%, ще до будь-яких змін поведінки. Саме тому початкове очікування +42.9% для всього доходу було завищеним.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Очікуваний дохід на 9.99 був $24.71, фактичний — $17.72. Найбільша втрата — рідші повторні платежі: −$4.08 на платника. Повернення коштів дали −$0.40. Попередній напис «у 8 разів менше» був помилковим: 4.08 / 0.40 = 10.2, тому на слайді тепер сказано «у 10 разів менше». Інші втрати: фіксована доплата $15 −$1.53, менша частота доплати −$0.94, спірні платежі −$0.04.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 другого платежу доходить 49% клієнтів на 6.99 і 31% на 9.99. Розрив 16–20 п.п. повторюється в усіх тижневих когортах. Це головний внесок у різницю LTV, але дані rollout є спостережними і самі по собі не доводять, що причиною була лише ціна.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У EU серед спостережених платників LTV 9.99-когорти нижчий на 2.3%, або на $0.40 за 49 днів; 95% CI [−0.71; −0.09]. У USA різниця +16.3%, в Other +13.5%. Це той самий регіон, де у рандомізованому A/B впала доплата $15. Rollout-LTV дає узгоджений, але не причинний сигнал.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Повна календарна каса за вікно звірена окремо. Для порівняння цін використана базова когорта стартів 26.01–09.03, де кожен клієнт фізично міг зробити перший платіж до 16.03. Модельна оцінка: +$106,970 проти сценарію 6.99; чутливість до меж когорти +$93–109 тис. Очікування +42.9% означало б +$568 тис., тому недобір — $461 тис. Важливе обмеження: order_data містить лише платників, тож конверсія з тріалу в перший платіж за цінами невідома, і повний ефект на весь трафік може бути нижчим.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ROAS49 = LTV49 / CAC: скільки доларів цінності повертає $1 реклами. EU: 1.39 → 1.20, тобто −13.6%; USA: 1.97 → 1.95, практично без змін. Google EU: на 6.99 CAC $19.38 і регіональний LTV $17.11, тому 17.11 / 19.38 = 0.88; на 9.99 CAC $18.73 і LTV $16.71, тому 16.71 / 18.73 = 0.89. Це сигнал для аудиту, не доказ збитковості: канального LTV немає, використано середній LTV регіону. Регіональна оцінка також оптимістична, бо вартість залучення порахована на оформлення тріалу, а LTV — на платниках.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Рішення по регіонах. EU: відкотити 9.99 або протестувати проміжну ціну; конкретний рівень 7.99 — лише гіпотеза для тесту. USA: залишити 9.99, але підтвердити результат тестом повної економіки. Tier1: провести коректний тест, бо у початковому A/B нову ціну не доставили. У наступних тестах одночасно контролювати покупку, доплату $15, повторні платежі, повернення коштів і вартість реклами.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3FB6C23-DBB0-40F6-A124-5E91E50FD044}"/>
              </a:ext>
            </a:extLst>
          </p:cNvPr>
          <p:cNvSpPr>
            <a:spLocks noGrp="1"/>
          </p:cNvSpPr>
          <p:nvPr/>
        </p:nvSpPr>
        <p:spPr>
          <a:xfrm>
            <a:off x="640080" y="1371600"/>
            <a:ext cx="7498080" cy="2011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5200"/>
              </a:lnSpc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Ціна 6.99 → 9.99:</a:t>
            </a:r>
          </a:p>
          <a:p>
            <a:pPr marL="0" indent="0">
              <a:lnSpc>
                <a:spcPts val="5200"/>
              </a:lnSpc>
              <a:buNone/>
            </a:pPr>
            <a:r>
              <a:rPr sz="4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що сталося насправді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7F3A06A-4935-4F40-9655-906B56248A90}"/>
              </a:ext>
            </a:extLst>
          </p:cNvPr>
          <p:cNvSpPr>
            <a:spLocks noGrp="1"/>
          </p:cNvSpPr>
          <p:nvPr/>
        </p:nvSpPr>
        <p:spPr>
          <a:xfrm>
            <a:off x="640080" y="3520440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Перевірка рішення: покупка · дохід за 49 днів · виручка · реклама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ED6D61D-6408-4775-809F-640D9F17F1DC}"/>
              </a:ext>
            </a:extLst>
          </p:cNvPr>
          <p:cNvSpPr>
            <a:spLocks noGrp="1"/>
          </p:cNvSpPr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Олександр Непоп  ·  Genesis Analytics Camp 3.0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6744374-AA5A-4CFE-969E-4C152BBB102C}"/>
              </a:ext>
            </a:extLst>
          </p:cNvPr>
          <p:cNvSpPr>
            <a:spLocks noGrp="1"/>
          </p:cNvSpPr>
          <p:nvPr/>
        </p:nvSpPr>
        <p:spPr>
          <a:xfrm>
            <a:off x="8595360" y="214884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обіцяли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A273AD9-0E47-43D0-984B-E7B298F5679C}"/>
              </a:ext>
            </a:extLst>
          </p:cNvPr>
          <p:cNvSpPr>
            <a:spLocks noGrp="1"/>
          </p:cNvSpPr>
          <p:nvPr/>
        </p:nvSpPr>
        <p:spPr>
          <a:xfrm>
            <a:off x="8595360" y="24688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800" b="1">
                <a:solidFill>
                  <a:srgbClr val="44546A"/>
                </a:solidFill>
                <a:latin typeface="Calibri"/>
                <a:ea typeface="Calibri"/>
                <a:cs typeface="Calibri"/>
              </a:rPr>
              <a:t>+42.9%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C1FAA50-98A5-47EB-A67D-B8A7FF23987A}"/>
              </a:ext>
            </a:extLst>
          </p:cNvPr>
          <p:cNvSpPr>
            <a:spLocks noGrp="1"/>
          </p:cNvSpPr>
          <p:nvPr/>
        </p:nvSpPr>
        <p:spPr>
          <a:xfrm>
            <a:off x="8595360" y="352044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отримали за 49 днів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ECFE88B-A376-4DFD-8D24-DC2A4834CC47}"/>
              </a:ext>
            </a:extLst>
          </p:cNvPr>
          <p:cNvSpPr>
            <a:spLocks noGrp="1"/>
          </p:cNvSpPr>
          <p:nvPr/>
        </p:nvSpPr>
        <p:spPr>
          <a:xfrm>
            <a:off x="8595360" y="38404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60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+2.5%</a:t>
            </a:r>
          </a:p>
        </p:txBody>
      </p:sp>
    </p:spTree>
    <p:extLst>
      <p:ext uri="{BB962C8B-B14F-4D97-AF65-F5344CB8AC3E}">
        <p14:creationId xmlns:p14="http://schemas.microsoft.com/office/powerpoint/2010/main" val="3377827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AF188FE-6058-4F73-9898-95A2E680739A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A92C277-04EF-41B2-8126-4B27F2C19935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КОНТЕКСТ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5ED3B1F-8180-422E-A6CC-75E1DECF6F50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Що сталося і про що питає CEO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5E420A6-C72C-4B22-B0BA-5C766AAA99F6}"/>
              </a:ext>
            </a:extLst>
          </p:cNvPr>
          <p:cNvSpPr>
            <a:spLocks noGrp="1"/>
          </p:cNvSpPr>
          <p:nvPr/>
        </p:nvSpPr>
        <p:spPr>
          <a:xfrm>
            <a:off x="548640" y="1737360"/>
            <a:ext cx="630936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Продукт: підписка на тренування, $6.99/тиждень, ринки USA / EU / Tier-1.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Пів року тому: A/B-тест 6.99 проти 9.99 → «покупка не впала» → ціну підняли.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Після тесту 9.99 увімкнули для 50% трафіку.</a:t>
            </a:r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sz="15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Сигнали команд: клієнти рідше продовжують підписку; більше повернень коштів; залучення подорожчало.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FEAD7A0-E6B1-46E0-9FB9-22D791C20EA6}"/>
              </a:ext>
            </a:extLst>
          </p:cNvPr>
          <p:cNvSpPr>
            <a:spLocks noGrp="1"/>
          </p:cNvSpPr>
          <p:nvPr/>
        </p:nvSpPr>
        <p:spPr>
          <a:xfrm>
            <a:off x="7223760" y="1828800"/>
            <a:ext cx="4389120" cy="3108960"/>
          </a:xfrm>
          <a:prstGeom prst="roundRect">
            <a:avLst>
              <a:gd name="adj" fmla="val 2941"/>
            </a:avLst>
          </a:prstGeom>
          <a:solidFill>
            <a:srgbClr val="EFF6FB"/>
          </a:solidFill>
        </p:spPr>
        <p:txBody>
          <a:bodyPr/>
          <a:lstStyle/>
          <a:p>
            <a:endParaRPr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70FAA29-0A11-46A1-88B9-2E9250D1342C}"/>
              </a:ext>
            </a:extLst>
          </p:cNvPr>
          <p:cNvSpPr>
            <a:spLocks noGrp="1"/>
          </p:cNvSpPr>
          <p:nvPr/>
        </p:nvSpPr>
        <p:spPr>
          <a:xfrm>
            <a:off x="7498080" y="214884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Питання CEO: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FC5E57A-A760-4995-8C62-FD43BFDD7811}"/>
              </a:ext>
            </a:extLst>
          </p:cNvPr>
          <p:cNvSpPr>
            <a:spLocks noGrp="1"/>
          </p:cNvSpPr>
          <p:nvPr/>
        </p:nvSpPr>
        <p:spPr>
          <a:xfrm>
            <a:off x="7498080" y="2606040"/>
            <a:ext cx="3840480" cy="21031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700" i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«Ціна +42%, а виручка так не виросла.</a:t>
            </a:r>
          </a:p>
          <a:p>
            <a:pPr marL="0" indent="0">
              <a:buNone/>
            </a:pPr>
            <a:endParaRPr sz="1700" i="1">
              <a:solidFill>
                <a:srgbClr val="26313B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sz="1700" i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Чи було рішення правильним?»</a:t>
            </a:r>
          </a:p>
        </p:txBody>
      </p:sp>
    </p:spTree>
    <p:extLst>
      <p:ext uri="{BB962C8B-B14F-4D97-AF65-F5344CB8AC3E}">
        <p14:creationId xmlns:p14="http://schemas.microsoft.com/office/powerpoint/2010/main" val="259019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4BA8CD-92FB-48FE-9F6E-74D1ED894656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E69F0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20439D-760C-4122-9A05-86792256A563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TL;DR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6E5C42F-5428-49E4-ABB3-E44D71A080EE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Три числа замість тисячі слів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D696166-206B-48EE-8CE6-6ED91853C258}"/>
              </a:ext>
            </a:extLst>
          </p:cNvPr>
          <p:cNvSpPr>
            <a:spLocks noGrp="1"/>
          </p:cNvSpPr>
          <p:nvPr/>
        </p:nvSpPr>
        <p:spPr>
          <a:xfrm>
            <a:off x="54864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DF6E6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281A673-FBE6-4AFA-9DB7-A9224150806A}"/>
              </a:ext>
            </a:extLst>
          </p:cNvPr>
          <p:cNvSpPr>
            <a:spLocks noGrp="1"/>
          </p:cNvSpPr>
          <p:nvPr/>
        </p:nvSpPr>
        <p:spPr>
          <a:xfrm>
            <a:off x="777240" y="1984248"/>
            <a:ext cx="31089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4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+2.5%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00CD7F3-969B-4B30-BE51-7C23A0965CBC}"/>
              </a:ext>
            </a:extLst>
          </p:cNvPr>
          <p:cNvSpPr>
            <a:spLocks noGrp="1"/>
          </p:cNvSpPr>
          <p:nvPr/>
        </p:nvSpPr>
        <p:spPr>
          <a:xfrm>
            <a:off x="777240" y="320040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дохід з платника за 49 днів</a:t>
            </a:r>
          </a:p>
          <a:p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замість очікуваних +42.9%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F9161B1-4D99-4F44-ADB3-504C5C0ACDE2}"/>
              </a:ext>
            </a:extLst>
          </p:cNvPr>
          <p:cNvSpPr>
            <a:spLocks noGrp="1"/>
          </p:cNvSpPr>
          <p:nvPr/>
        </p:nvSpPr>
        <p:spPr>
          <a:xfrm>
            <a:off x="434340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FF6FB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041A085-23E6-435B-B671-2511EFB72A05}"/>
              </a:ext>
            </a:extLst>
          </p:cNvPr>
          <p:cNvSpPr>
            <a:spLocks noGrp="1"/>
          </p:cNvSpPr>
          <p:nvPr/>
        </p:nvSpPr>
        <p:spPr>
          <a:xfrm>
            <a:off x="4572000" y="1984248"/>
            <a:ext cx="31089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4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19%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14D8749-F80B-4732-A71D-474C80B5579B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очікуваного приросту отримано:</a:t>
            </a:r>
          </a:p>
          <a:p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+$107 тис. із +$568 тис.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3BA9CE0E-6676-4955-A29F-0445B0C0B971}"/>
              </a:ext>
            </a:extLst>
          </p:cNvPr>
          <p:cNvSpPr>
            <a:spLocks noGrp="1"/>
          </p:cNvSpPr>
          <p:nvPr/>
        </p:nvSpPr>
        <p:spPr>
          <a:xfrm>
            <a:off x="813816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BEEE7"/>
          </a:solidFill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107CB4F-7C35-4C0B-BD9C-CD36A4B98FF8}"/>
              </a:ext>
            </a:extLst>
          </p:cNvPr>
          <p:cNvSpPr>
            <a:spLocks noGrp="1"/>
          </p:cNvSpPr>
          <p:nvPr/>
        </p:nvSpPr>
        <p:spPr>
          <a:xfrm>
            <a:off x="8366760" y="1984248"/>
            <a:ext cx="310896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4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−2.3%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342BB20-4C24-4172-B437-CEC8F917693F}"/>
              </a:ext>
            </a:extLst>
          </p:cNvPr>
          <p:cNvSpPr>
            <a:spLocks noGrp="1"/>
          </p:cNvSpPr>
          <p:nvPr/>
        </p:nvSpPr>
        <p:spPr>
          <a:xfrm>
            <a:off x="8366760" y="320040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дохід з платника у EU нижчий:</a:t>
            </a:r>
          </a:p>
          <a:p>
            <a:pPr marL="0" indent="0"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−$0.40 за 49 днів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1171617-28F2-4A43-8F5B-CF24EEC8185D}"/>
              </a:ext>
            </a:extLst>
          </p:cNvPr>
          <p:cNvSpPr>
            <a:spLocks noGrp="1"/>
          </p:cNvSpPr>
          <p:nvPr/>
        </p:nvSpPr>
        <p:spPr>
          <a:xfrm>
            <a:off x="548640" y="4663440"/>
            <a:ext cx="1115568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Висновок: підвищення дало значно менше очікуваного, а результат суттєво відрізняється за регіонами. Рішення — різні ціни для різних ринків.</a:t>
            </a:r>
          </a:p>
        </p:txBody>
      </p:sp>
    </p:spTree>
    <p:extLst>
      <p:ext uri="{BB962C8B-B14F-4D97-AF65-F5344CB8AC3E}">
        <p14:creationId xmlns:p14="http://schemas.microsoft.com/office/powerpoint/2010/main" val="1308106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13B3D9E-A650-4154-BB81-AB4202B7ABD0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D6D0D5-79CB-40A0-B0F8-4E2599625E98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ПЕРЕВІРКА ДАНИХ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6860CD2-4710-41D4-8E32-9B59F229288C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Перед аналізом прибрали 4 проблеми в даних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826B535-C325-4134-8ABB-E61151B34201}"/>
              </a:ext>
            </a:extLst>
          </p:cNvPr>
          <p:cNvSpPr>
            <a:spLocks noGrp="1"/>
          </p:cNvSpPr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3F1A88-B18F-4596-B405-CF6E7C2EDA7A}"/>
              </a:ext>
            </a:extLst>
          </p:cNvPr>
          <p:cNvSpPr>
            <a:spLocks noGrp="1"/>
          </p:cNvSpPr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234E029-D115-4DF2-8820-B1C2D14CB9EC}"/>
              </a:ext>
            </a:extLst>
          </p:cNvPr>
          <p:cNvSpPr>
            <a:spLocks noGrp="1"/>
          </p:cNvSpPr>
          <p:nvPr/>
        </p:nvSpPr>
        <p:spPr>
          <a:xfrm>
            <a:off x="1234440" y="178308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Видалили 1 131 дубльовану подію.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1B8288A-A9CF-4FCC-A917-820EDA1DDE66}"/>
              </a:ext>
            </a:extLst>
          </p:cNvPr>
          <p:cNvSpPr>
            <a:spLocks noGrp="1"/>
          </p:cNvSpPr>
          <p:nvPr/>
        </p:nvSpPr>
        <p:spPr>
          <a:xfrm>
            <a:off x="548640" y="2761488"/>
            <a:ext cx="457200" cy="457200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140F199-A6F1-4522-9BDB-7F21F5F42B35}"/>
              </a:ext>
            </a:extLst>
          </p:cNvPr>
          <p:cNvSpPr>
            <a:spLocks noGrp="1"/>
          </p:cNvSpPr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9D66B8C-9001-437D-9D85-EEF6C52268EF}"/>
              </a:ext>
            </a:extLst>
          </p:cNvPr>
          <p:cNvSpPr>
            <a:spLocks noGrp="1"/>
          </p:cNvSpPr>
          <p:nvPr/>
        </p:nvSpPr>
        <p:spPr>
          <a:xfrm>
            <a:off x="1234440" y="2715768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Виключили 9–10 січня: одна з груп відстежувалась некоректно.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D3FB1B8-922E-43FF-A03C-EB34AA86545A}"/>
              </a:ext>
            </a:extLst>
          </p:cNvPr>
          <p:cNvSpPr>
            <a:spLocks noGrp="1"/>
          </p:cNvSpPr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86278B1-0C43-4B3F-9D3C-4A66BFD5592A}"/>
              </a:ext>
            </a:extLst>
          </p:cNvPr>
          <p:cNvSpPr>
            <a:spLocks noGrp="1"/>
          </p:cNvSpPr>
          <p:nvPr/>
        </p:nvSpPr>
        <p:spPr>
          <a:xfrm>
            <a:off x="548640" y="369417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518C9C3-4B64-4F3D-8838-4EB58BA23BDE}"/>
              </a:ext>
            </a:extLst>
          </p:cNvPr>
          <p:cNvSpPr>
            <a:spLocks noGrp="1"/>
          </p:cNvSpPr>
          <p:nvPr/>
        </p:nvSpPr>
        <p:spPr>
          <a:xfrm>
            <a:off x="1234440" y="3648456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Для аналізу залишили коректне вікно 11–24 січня.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C054F904-F6F5-4549-A0A0-269FBF3F500C}"/>
              </a:ext>
            </a:extLst>
          </p:cNvPr>
          <p:cNvSpPr>
            <a:spLocks noGrp="1"/>
          </p:cNvSpPr>
          <p:nvPr/>
        </p:nvSpPr>
        <p:spPr>
          <a:xfrm>
            <a:off x="548640" y="4626864"/>
            <a:ext cx="457200" cy="457200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2678B7A-D81B-4E20-B2D5-97380E0C080A}"/>
              </a:ext>
            </a:extLst>
          </p:cNvPr>
          <p:cNvSpPr>
            <a:spLocks noGrp="1"/>
          </p:cNvSpPr>
          <p:nvPr/>
        </p:nvSpPr>
        <p:spPr>
          <a:xfrm>
            <a:off x="548640" y="462686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A6A2563-90C1-41DD-A1EA-AA030C82F120}"/>
              </a:ext>
            </a:extLst>
          </p:cNvPr>
          <p:cNvSpPr>
            <a:spLocks noGrp="1"/>
          </p:cNvSpPr>
          <p:nvPr/>
        </p:nvSpPr>
        <p:spPr>
          <a:xfrm>
            <a:off x="1234440" y="4581144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Tier1 не отримав ціну 9.99 — не використовуємо його для порівняння цін.</a:t>
            </a: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86CF47A-1B74-429C-99D6-26842C5CE714}"/>
              </a:ext>
            </a:extLst>
          </p:cNvPr>
          <p:cNvSpPr>
            <a:spLocks noGrp="1"/>
          </p:cNvSpPr>
          <p:nvPr/>
        </p:nvSpPr>
        <p:spPr>
          <a:xfrm>
            <a:off x="7406640" y="1783080"/>
            <a:ext cx="4206240" cy="3657600"/>
          </a:xfrm>
          <a:prstGeom prst="roundRect">
            <a:avLst>
              <a:gd name="adj" fmla="val 2500"/>
            </a:avLst>
          </a:prstGeom>
          <a:solidFill>
            <a:srgbClr val="F2F4F6"/>
          </a:solidFill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E6BC58C-B007-4C34-87C4-CB8E6B51A046}"/>
              </a:ext>
            </a:extLst>
          </p:cNvPr>
          <p:cNvSpPr>
            <a:spLocks noGrp="1"/>
          </p:cNvSpPr>
          <p:nvPr/>
        </p:nvSpPr>
        <p:spPr>
          <a:xfrm>
            <a:off x="7680960" y="201168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Що це означає для рішення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11BDDF3-A7C4-4EF6-8603-357F06B82754}"/>
              </a:ext>
            </a:extLst>
          </p:cNvPr>
          <p:cNvSpPr>
            <a:spLocks noGrp="1"/>
          </p:cNvSpPr>
          <p:nvPr/>
        </p:nvSpPr>
        <p:spPr>
          <a:xfrm>
            <a:off x="7680960" y="2697480"/>
            <a:ext cx="3657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spcAft>
                <a:spcPts val="1000"/>
              </a:spcAft>
              <a:buNone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Дані EU та USA придатні для порівняння цін.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Tier1 використовуємо лише як контроль якості.</a:t>
            </a: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sz="12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Інших системних збоїв не виявили.</a:t>
            </a:r>
          </a:p>
        </p:txBody>
      </p:sp>
    </p:spTree>
    <p:extLst>
      <p:ext uri="{BB962C8B-B14F-4D97-AF65-F5344CB8AC3E}">
        <p14:creationId xmlns:p14="http://schemas.microsoft.com/office/powerpoint/2010/main" val="1133323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6995588-846C-47E7-A87E-76C80ECC5B63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614E5BD-EDA1-4554-94EB-F901DA0DC7F2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ЗАВДАННЯ 1 · КОНВЕРСІЯ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05780D1-4DC3-4B8C-B489-CF256D2013F5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Покупка: нова ціна майже не змінила конверсію</a:t>
            </a:r>
          </a:p>
        </p:txBody>
      </p:sp>
      <p:graphicFrame>
        <p:nvGraphicFramePr>
          <p:cNvPr id="13" name="Table 0"/>
          <p:cNvGraphicFramePr/>
          <p:nvPr/>
        </p:nvGraphicFramePr>
        <p:xfrm>
          <a:off x="548640" y="1920240"/>
          <a:ext cx="6583680" cy="23774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Регіон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Ціна 6.99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Ціна 9.99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Зміна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EU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5.59%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5.40%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−0.19 п.п.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USA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7.48%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6.97%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−0.51 п.п.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Tier1</a:t>
                      </a:r>
                    </a:p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(обидві 6.99)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6.80%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6.94%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5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+0.13 п.п.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>
            <a:extLst>
              <a:ext uri="{FF2B5EF4-FFF2-40B4-BE49-F238E27FC236}">
                <a16:creationId xmlns:a16="http://schemas.microsoft.com/office/drawing/2014/main" id="{6428157B-F764-40FE-9AEA-2DF11025DC04}"/>
              </a:ext>
            </a:extLst>
          </p:cNvPr>
          <p:cNvSpPr>
            <a:spLocks noGrp="1"/>
          </p:cNvSpPr>
          <p:nvPr/>
        </p:nvSpPr>
        <p:spPr>
          <a:xfrm>
            <a:off x="7589520" y="1920240"/>
            <a:ext cx="4023360" cy="2377440"/>
          </a:xfrm>
          <a:prstGeom prst="roundRect">
            <a:avLst>
              <a:gd name="adj" fmla="val 3846"/>
            </a:avLst>
          </a:prstGeom>
          <a:solidFill>
            <a:srgbClr val="EFF6FB"/>
          </a:solidFill>
        </p:spPr>
        <p:txBody>
          <a:bodyPr/>
          <a:lstStyle/>
          <a:p>
            <a:endParaRPr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7AE2F46-2AF8-4F26-8C41-6C0DBC34FBB2}"/>
              </a:ext>
            </a:extLst>
          </p:cNvPr>
          <p:cNvSpPr>
            <a:spLocks noGrp="1"/>
          </p:cNvSpPr>
          <p:nvPr/>
        </p:nvSpPr>
        <p:spPr>
          <a:xfrm>
            <a:off x="7863840" y="2103120"/>
            <a:ext cx="73152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endParaRPr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4CD8EAB-A236-45B0-9AD4-335FF22DBCCD}"/>
              </a:ext>
            </a:extLst>
          </p:cNvPr>
          <p:cNvSpPr>
            <a:spLocks noGrp="1"/>
          </p:cNvSpPr>
          <p:nvPr/>
        </p:nvSpPr>
        <p:spPr>
          <a:xfrm>
            <a:off x="7809271" y="1965960"/>
            <a:ext cx="3529289" cy="2377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Найбільше падіння — у США: 7.48% → 6.97%.</a:t>
            </a:r>
          </a:p>
          <a:p>
            <a:pPr marL="0" indent="0">
              <a:buNone/>
            </a:pPr>
            <a:endParaRPr sz="1400">
              <a:solidFill>
                <a:srgbClr val="26313B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Але компанія перевірила лише </a:t>
            </a: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покупку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, не </a:t>
            </a: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весь дохід </a:t>
            </a: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з клієнта</a:t>
            </a:r>
            <a:r>
              <a:rPr sz="16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4356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120611C-F479-4B46-9F79-93ACD80B7061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D55E0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FEE3DA6-51D0-48F8-90A5-C01F00705031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ЗАВДАННЯ 1 · ДОДАТКОВИЙ ДОХІД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5D3BCF5-A60E-448E-9A94-EE2A1CF2C370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У EU доплату $15 стали купувати на 32% рідше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0A852DD-0639-424C-83FF-2277106CF546}"/>
              </a:ext>
            </a:extLst>
          </p:cNvPr>
          <p:cNvSpPr>
            <a:spLocks noGrp="1"/>
          </p:cNvSpPr>
          <p:nvPr/>
        </p:nvSpPr>
        <p:spPr>
          <a:xfrm>
            <a:off x="548640" y="1828800"/>
            <a:ext cx="3749040" cy="1463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0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−32%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8ED62A3-12A6-4E72-A508-72062DEAB967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Серед покупців у EU частка доплати $15 знизилась:</a:t>
            </a:r>
          </a:p>
          <a:p>
            <a:pPr marL="0" indent="0">
              <a:buNone/>
            </a:pPr>
            <a:r>
              <a:rPr sz="14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24.6% → 16.8%</a:t>
            </a:r>
          </a:p>
        </p:txBody>
      </p:sp>
      <p:graphicFrame>
        <p:nvGraphicFramePr>
          <p:cNvPr id="15" name="Table 0"/>
          <p:cNvGraphicFramePr/>
          <p:nvPr/>
        </p:nvGraphicFramePr>
        <p:xfrm>
          <a:off x="4846320" y="1874520"/>
          <a:ext cx="6766560" cy="237744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Регіон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6.99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9.99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Зміна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EU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24.6%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16.8%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−32%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USA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19.6%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17.6%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−10%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Tier1</a:t>
                      </a:r>
                    </a:p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(обидві 6.99)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30.6%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30.3%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40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−1%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>
            <a:extLst>
              <a:ext uri="{FF2B5EF4-FFF2-40B4-BE49-F238E27FC236}">
                <a16:creationId xmlns:a16="http://schemas.microsoft.com/office/drawing/2014/main" id="{468FCD46-844F-49CD-9C2F-73A73F20771B}"/>
              </a:ext>
            </a:extLst>
          </p:cNvPr>
          <p:cNvSpPr>
            <a:spLocks noGrp="1"/>
          </p:cNvSpPr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Компанія перевірила покупку, але пропустила падіння додаткового доходу.</a:t>
            </a:r>
          </a:p>
        </p:txBody>
      </p:sp>
    </p:spTree>
    <p:extLst>
      <p:ext uri="{BB962C8B-B14F-4D97-AF65-F5344CB8AC3E}">
        <p14:creationId xmlns:p14="http://schemas.microsoft.com/office/powerpoint/2010/main" val="1329873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A7DE8C1-4017-4602-8847-B75B90504EA7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07A1E33-6630-46CB-AEFB-3C98AF22E461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ЧОМУ +42.9% БУЛИ НЕМОЖЛИВІ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9EC751-18E1-41A2-8AEF-33CED864E08B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Підняли ціну лише частині виручки — а чекали ріст від усієї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F1F3261-83C3-4C2A-AB42-E3DFE63366E6}"/>
              </a:ext>
            </a:extLst>
          </p:cNvPr>
          <p:cNvSpPr>
            <a:spLocks noGrp="1"/>
          </p:cNvSpPr>
          <p:nvPr/>
        </p:nvSpPr>
        <p:spPr>
          <a:xfrm>
            <a:off x="548640" y="18745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Структура доходу з платника на ціні 6.99: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B949433-6CAC-454A-904C-A412E9C2E3B4}"/>
              </a:ext>
            </a:extLst>
          </p:cNvPr>
          <p:cNvSpPr>
            <a:spLocks noGrp="1"/>
          </p:cNvSpPr>
          <p:nvPr/>
        </p:nvSpPr>
        <p:spPr>
          <a:xfrm>
            <a:off x="548640" y="2286000"/>
            <a:ext cx="5779008" cy="1005840"/>
          </a:xfrm>
          <a:prstGeom prst="rect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085400B-79A0-4E1F-AFD5-2ECD06373F64}"/>
              </a:ext>
            </a:extLst>
          </p:cNvPr>
          <p:cNvSpPr>
            <a:spLocks noGrp="1"/>
          </p:cNvSpPr>
          <p:nvPr/>
        </p:nvSpPr>
        <p:spPr>
          <a:xfrm>
            <a:off x="6373368" y="2286000"/>
            <a:ext cx="1563624" cy="1005840"/>
          </a:xfrm>
          <a:prstGeom prst="rect">
            <a:avLst/>
          </a:prstGeom>
          <a:solidFill>
            <a:srgbClr val="E69F00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0C690F7-080A-47DC-94BF-10A88933E678}"/>
              </a:ext>
            </a:extLst>
          </p:cNvPr>
          <p:cNvSpPr>
            <a:spLocks noGrp="1"/>
          </p:cNvSpPr>
          <p:nvPr/>
        </p:nvSpPr>
        <p:spPr>
          <a:xfrm>
            <a:off x="731520" y="2395728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підписка · 79%</a:t>
            </a:r>
          </a:p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ціна зросла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384443D-C3AB-4AE2-B2CB-556CE017495C}"/>
              </a:ext>
            </a:extLst>
          </p:cNvPr>
          <p:cNvSpPr>
            <a:spLocks noGrp="1"/>
          </p:cNvSpPr>
          <p:nvPr/>
        </p:nvSpPr>
        <p:spPr>
          <a:xfrm>
            <a:off x="6473952" y="2395728"/>
            <a:ext cx="14173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доплата $15 · 21%</a:t>
            </a:r>
          </a:p>
          <a:p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ціна не змінилась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3681202-EE70-4EAF-AFC0-3472726C3920}"/>
              </a:ext>
            </a:extLst>
          </p:cNvPr>
          <p:cNvSpPr>
            <a:spLocks noGrp="1"/>
          </p:cNvSpPr>
          <p:nvPr/>
        </p:nvSpPr>
        <p:spPr>
          <a:xfrm>
            <a:off x="548640" y="3657600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Отже, навіть без змін поведінки максимальний ріст: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44AE8BA-D14D-424F-89EC-32ECCEEF9A43}"/>
              </a:ext>
            </a:extLst>
          </p:cNvPr>
          <p:cNvSpPr>
            <a:spLocks noGrp="1"/>
          </p:cNvSpPr>
          <p:nvPr/>
        </p:nvSpPr>
        <p:spPr>
          <a:xfrm>
            <a:off x="548640" y="4069080"/>
            <a:ext cx="53035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0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42.9% × 79% = 33.9%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4331881-C675-4A11-9DAB-C3CDCE4BE74F}"/>
              </a:ext>
            </a:extLst>
          </p:cNvPr>
          <p:cNvSpPr>
            <a:spLocks noGrp="1"/>
          </p:cNvSpPr>
          <p:nvPr/>
        </p:nvSpPr>
        <p:spPr>
          <a:xfrm>
            <a:off x="5760720" y="3794760"/>
            <a:ext cx="2377440" cy="10058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5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+34%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8A9B67F-E609-4C21-8180-223FA6DA44A0}"/>
              </a:ext>
            </a:extLst>
          </p:cNvPr>
          <p:cNvSpPr>
            <a:spLocks noGrp="1"/>
          </p:cNvSpPr>
          <p:nvPr/>
        </p:nvSpPr>
        <p:spPr>
          <a:xfrm>
            <a:off x="8138160" y="397764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максимум за</a:t>
            </a:r>
          </a:p>
          <a:p>
            <a:pPr marL="0" indent="0">
              <a:buNone/>
            </a:pPr>
            <a:r>
              <a:rPr sz="12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незмінної поведінки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E3A1880-152B-4E01-9DDD-CADDC9609D29}"/>
              </a:ext>
            </a:extLst>
          </p:cNvPr>
          <p:cNvSpPr>
            <a:spLocks noGrp="1"/>
          </p:cNvSpPr>
          <p:nvPr/>
        </p:nvSpPr>
        <p:spPr>
          <a:xfrm>
            <a:off x="8595360" y="2011680"/>
            <a:ext cx="3063240" cy="1463040"/>
          </a:xfrm>
          <a:prstGeom prst="roundRect">
            <a:avLst>
              <a:gd name="adj" fmla="val 6250"/>
            </a:avLst>
          </a:prstGeom>
          <a:solidFill>
            <a:srgbClr val="FBEEE7"/>
          </a:solidFill>
        </p:spPr>
        <p:txBody>
          <a:bodyPr/>
          <a:lstStyle/>
          <a:p>
            <a:endParaRPr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9D5B7A3-7B8A-478B-B276-FDC3DF936093}"/>
              </a:ext>
            </a:extLst>
          </p:cNvPr>
          <p:cNvSpPr>
            <a:spLocks noGrp="1"/>
          </p:cNvSpPr>
          <p:nvPr/>
        </p:nvSpPr>
        <p:spPr>
          <a:xfrm>
            <a:off x="8823960" y="2148840"/>
            <a:ext cx="2651760" cy="12344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Очікування +42.9% було завищеним: доплата $15 не зростає разом із ціною підписки.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24DF4A0-8BFC-4E17-B016-D98F4A3B4B73}"/>
              </a:ext>
            </a:extLst>
          </p:cNvPr>
          <p:cNvSpPr>
            <a:spLocks noGrp="1"/>
          </p:cNvSpPr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Ще до падіння доплат і повторних платежів реалістична межа була близько +34%.</a:t>
            </a:r>
          </a:p>
        </p:txBody>
      </p:sp>
    </p:spTree>
    <p:extLst>
      <p:ext uri="{BB962C8B-B14F-4D97-AF65-F5344CB8AC3E}">
        <p14:creationId xmlns:p14="http://schemas.microsoft.com/office/powerpoint/2010/main" val="821976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7235B0-B841-4676-AA92-585211AD9105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E69F0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29B421D-EC99-459B-98B5-22CE4A13566C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ЗАВДАННЯ 2 · ДОХІД З ПЛАТНИКА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B79ACE9-4693-44FF-A155-C75CCF62B2B8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Дохід з платника за 49 днів: +2.5% замість +42.9%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B3981A6-5C92-4716-A9B1-0C37B4C920F8}"/>
              </a:ext>
            </a:extLst>
          </p:cNvPr>
          <p:cNvSpPr>
            <a:spLocks noGrp="1"/>
          </p:cNvSpPr>
          <p:nvPr/>
        </p:nvSpPr>
        <p:spPr>
          <a:xfrm>
            <a:off x="8869680" y="1828800"/>
            <a:ext cx="2834640" cy="3291840"/>
          </a:xfrm>
          <a:prstGeom prst="roundRect">
            <a:avLst>
              <a:gd name="adj" fmla="val 3226"/>
            </a:avLst>
          </a:prstGeom>
          <a:solidFill>
            <a:srgbClr val="F2F4F6"/>
          </a:solidFill>
        </p:spPr>
        <p:txBody>
          <a:bodyPr/>
          <a:lstStyle/>
          <a:p>
            <a:endParaRPr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39C8002-9C94-4AEA-A4E3-A4994BDEC1E0}"/>
              </a:ext>
            </a:extLst>
          </p:cNvPr>
          <p:cNvSpPr>
            <a:spLocks noGrp="1"/>
          </p:cNvSpPr>
          <p:nvPr/>
        </p:nvSpPr>
        <p:spPr>
          <a:xfrm>
            <a:off x="9098280" y="2011680"/>
            <a:ext cx="23774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Що з'їло очікуваний ріст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9A4AC8F-27D2-4E08-A8C7-0A0B9D3A9A6C}"/>
              </a:ext>
            </a:extLst>
          </p:cNvPr>
          <p:cNvSpPr>
            <a:spLocks noGrp="1"/>
          </p:cNvSpPr>
          <p:nvPr/>
        </p:nvSpPr>
        <p:spPr>
          <a:xfrm>
            <a:off x="9098280" y="2560320"/>
            <a:ext cx="246888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spcAft>
                <a:spcPts val="600"/>
              </a:spcAft>
              <a:buNone/>
            </a:pPr>
            <a:r>
              <a:rPr sz="13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Рідше продовжують  −$4.08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Доплата $15 не зросла  −$1.53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Менше доплат $15  −$0.94</a:t>
            </a:r>
          </a:p>
          <a:p>
            <a:pPr marL="0" indent="0">
              <a:spcAft>
                <a:spcPts val="600"/>
              </a:spcAft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Повернення коштів  −$0.40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Спірні платежі  −$0.04</a:t>
            </a:r>
          </a:p>
          <a:p>
            <a:pPr marL="0" indent="0">
              <a:buNone/>
            </a:pPr>
            <a:r>
              <a:rPr sz="115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Головна втрата — повторні платежі. Повернення вплинули у 10 разів менше.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="685800" y="1657350"/>
          <a:ext cx="752475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A6E7B7C-4780-4BB8-AC42-FE4EBEB2D7D0}"/>
              </a:ext>
            </a:extLst>
          </p:cNvPr>
          <p:cNvSpPr>
            <a:spLocks noGrp="1"/>
          </p:cNvSpPr>
          <p:nvPr/>
        </p:nvSpPr>
        <p:spPr>
          <a:xfrm>
            <a:off x="886778" y="1821631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>
                <a:solidFill>
                  <a:srgbClr val="27313C"/>
                </a:solidFill>
              </a:defRPr>
            </a:pPr>
            <a:r>
              <a:rPr sz="825" b="1" dirty="0">
                <a:solidFill>
                  <a:srgbClr val="27313C"/>
                </a:solidFill>
              </a:rPr>
              <a:t>$24.71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609D0D-84DC-4FFC-8365-C31AFC2004E8}"/>
              </a:ext>
            </a:extLst>
          </p:cNvPr>
          <p:cNvSpPr>
            <a:spLocks noGrp="1"/>
          </p:cNvSpPr>
          <p:nvPr/>
        </p:nvSpPr>
        <p:spPr>
          <a:xfrm>
            <a:off x="1945005" y="1803359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>
                <a:solidFill>
                  <a:srgbClr val="27313C"/>
                </a:solidFill>
              </a:defRPr>
            </a:pPr>
            <a:r>
              <a:rPr sz="825" b="1" dirty="0">
                <a:solidFill>
                  <a:srgbClr val="27313C"/>
                </a:solidFill>
              </a:rPr>
              <a:t>−$4.08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15663F1-1643-4C71-AF73-8DCB8CF7DA04}"/>
              </a:ext>
            </a:extLst>
          </p:cNvPr>
          <p:cNvSpPr>
            <a:spLocks noGrp="1"/>
          </p:cNvSpPr>
          <p:nvPr/>
        </p:nvSpPr>
        <p:spPr>
          <a:xfrm>
            <a:off x="2990850" y="2264492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>
                <a:solidFill>
                  <a:srgbClr val="27313C"/>
                </a:solidFill>
              </a:defRPr>
            </a:pPr>
            <a:r>
              <a:rPr sz="825" b="1" dirty="0">
                <a:solidFill>
                  <a:srgbClr val="27313C"/>
                </a:solidFill>
              </a:rPr>
              <a:t>−$1.53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BF96551-C378-4E29-9F70-3E09C576E4BB}"/>
              </a:ext>
            </a:extLst>
          </p:cNvPr>
          <p:cNvSpPr>
            <a:spLocks noGrp="1"/>
          </p:cNvSpPr>
          <p:nvPr/>
        </p:nvSpPr>
        <p:spPr>
          <a:xfrm>
            <a:off x="4019550" y="241935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>
                <a:solidFill>
                  <a:srgbClr val="27313C"/>
                </a:solidFill>
              </a:defRPr>
            </a:pPr>
            <a:r>
              <a:rPr sz="825" b="1" dirty="0">
                <a:solidFill>
                  <a:srgbClr val="27313C"/>
                </a:solidFill>
              </a:rPr>
              <a:t>−$0.94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AC55279-5058-4FFA-9AFE-5DC13F1DFC63}"/>
              </a:ext>
            </a:extLst>
          </p:cNvPr>
          <p:cNvSpPr>
            <a:spLocks noGrp="1"/>
          </p:cNvSpPr>
          <p:nvPr/>
        </p:nvSpPr>
        <p:spPr>
          <a:xfrm>
            <a:off x="5010150" y="253365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−$0.40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1F8FCE9-BD27-4FEF-BB94-DAF28968907C}"/>
              </a:ext>
            </a:extLst>
          </p:cNvPr>
          <p:cNvSpPr>
            <a:spLocks noGrp="1"/>
          </p:cNvSpPr>
          <p:nvPr/>
        </p:nvSpPr>
        <p:spPr>
          <a:xfrm>
            <a:off x="6057900" y="259080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>
                <a:solidFill>
                  <a:srgbClr val="27313C"/>
                </a:solidFill>
              </a:defRPr>
            </a:pPr>
            <a:r>
              <a:rPr sz="825" b="1">
                <a:solidFill>
                  <a:srgbClr val="27313C"/>
                </a:solidFill>
              </a:rPr>
              <a:t>−$0.04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05D400F-E0DC-4D69-A4A1-10C6445B8F66}"/>
              </a:ext>
            </a:extLst>
          </p:cNvPr>
          <p:cNvSpPr>
            <a:spLocks noGrp="1"/>
          </p:cNvSpPr>
          <p:nvPr/>
        </p:nvSpPr>
        <p:spPr>
          <a:xfrm>
            <a:off x="7134225" y="2590800"/>
            <a:ext cx="857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>
                <a:solidFill>
                  <a:srgbClr val="27313C"/>
                </a:solidFill>
              </a:defRPr>
            </a:pPr>
            <a:r>
              <a:rPr sz="825" b="1" dirty="0">
                <a:solidFill>
                  <a:srgbClr val="27313C"/>
                </a:solidFill>
              </a:rPr>
              <a:t>$17.72</a:t>
            </a:r>
          </a:p>
        </p:txBody>
      </p:sp>
    </p:spTree>
    <p:extLst>
      <p:ext uri="{BB962C8B-B14F-4D97-AF65-F5344CB8AC3E}">
        <p14:creationId xmlns:p14="http://schemas.microsoft.com/office/powerpoint/2010/main" val="1060305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29180C5-56F1-4C0D-9CED-484698BFF027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D55E0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599FC5-77EA-4658-838E-87F6233ACFDA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ЗАВДАННЯ 2 · ПОВТОРНІ ПЛАТЕЖІ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6B38DE7-E2F0-47C6-8386-EDE7C40977A7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На 9.99 клієнти рідше роблять повторні платежі</a:t>
            </a:r>
          </a:p>
        </p:txBody>
      </p:sp>
      <p:pic>
        <p:nvPicPr>
          <p:cNvPr id="1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7315200" cy="3739896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429D0572-D5EF-41A1-8D70-829FBC1A4F2B}"/>
              </a:ext>
            </a:extLst>
          </p:cNvPr>
          <p:cNvSpPr>
            <a:spLocks noGrp="1"/>
          </p:cNvSpPr>
          <p:nvPr/>
        </p:nvSpPr>
        <p:spPr>
          <a:xfrm>
            <a:off x="8138160" y="1811102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49% vs 31%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6751E81-DA17-480E-86DF-4D63DC43BCA7}"/>
              </a:ext>
            </a:extLst>
          </p:cNvPr>
          <p:cNvSpPr>
            <a:spLocks noGrp="1"/>
          </p:cNvSpPr>
          <p:nvPr/>
        </p:nvSpPr>
        <p:spPr>
          <a:xfrm>
            <a:off x="8138160" y="2322871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до другого платежу доходять</a:t>
            </a:r>
          </a:p>
          <a:p>
            <a:pPr marL="0" indent="0">
              <a:buNone/>
            </a:pPr>
            <a:r>
              <a:rPr sz="13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на 6.99 та 9.99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E05B1EC-9859-4FA3-BE23-69050C9A04B9}"/>
              </a:ext>
            </a:extLst>
          </p:cNvPr>
          <p:cNvSpPr>
            <a:spLocks noGrp="1"/>
          </p:cNvSpPr>
          <p:nvPr/>
        </p:nvSpPr>
        <p:spPr>
          <a:xfrm>
            <a:off x="8138160" y="3383280"/>
            <a:ext cx="34747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spcAft>
                <a:spcPts val="1000"/>
              </a:spcAft>
              <a:buNone/>
            </a:pPr>
            <a:r>
              <a:rPr sz="13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Різниця повторюється щотижня.</a:t>
            </a:r>
          </a:p>
          <a:p>
            <a:pPr marL="0" indent="0">
              <a:buNone/>
            </a:pPr>
            <a:r>
              <a:rPr sz="135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Це головна причина, чому дохід виріс лише на 2.5%.</a:t>
            </a:r>
          </a:p>
        </p:txBody>
      </p:sp>
    </p:spTree>
    <p:extLst>
      <p:ext uri="{BB962C8B-B14F-4D97-AF65-F5344CB8AC3E}">
        <p14:creationId xmlns:p14="http://schemas.microsoft.com/office/powerpoint/2010/main" val="1301147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2775066-0274-47D5-B2CF-E523E2FB1BC1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D55E00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BA14749-73E8-479B-8013-0501708DB74D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ЗАВДАННЯ 2 · СЕГМЕНТИ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83027F5-192F-4575-9A79-D9C0203AC238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Зниження доходу з платника — лише в EU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0D82ED2-EF9C-43B0-BB39-B3D02D1E6403}"/>
              </a:ext>
            </a:extLst>
          </p:cNvPr>
          <p:cNvSpPr>
            <a:spLocks noGrp="1"/>
          </p:cNvSpPr>
          <p:nvPr/>
        </p:nvSpPr>
        <p:spPr>
          <a:xfrm>
            <a:off x="8138160" y="192024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8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EU −2.3%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78D27D8-9863-4EB2-8126-4E9E648E1D1D}"/>
              </a:ext>
            </a:extLst>
          </p:cNvPr>
          <p:cNvSpPr>
            <a:spLocks noGrp="1"/>
          </p:cNvSpPr>
          <p:nvPr/>
        </p:nvSpPr>
        <p:spPr>
          <a:xfrm>
            <a:off x="8138160" y="269748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У EU клієнт на 9.99 приніс у середньому на $0.40 менше за 49 днів. У США та інших ринках — більше.</a:t>
            </a: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D7C96EA-7FA5-482D-ADAD-B1CA14782136}"/>
              </a:ext>
            </a:extLst>
          </p:cNvPr>
          <p:cNvSpPr>
            <a:spLocks noGrp="1"/>
          </p:cNvSpPr>
          <p:nvPr/>
        </p:nvSpPr>
        <p:spPr>
          <a:xfrm>
            <a:off x="8138160" y="3657600"/>
            <a:ext cx="347472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spcAft>
                <a:spcPts val="400"/>
              </a:spcAft>
              <a:buNone/>
            </a:pP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USA  +16.3%</a:t>
            </a:r>
          </a:p>
          <a:p>
            <a:pPr marL="0" indent="0">
              <a:spcAft>
                <a:spcPts val="1000"/>
              </a:spcAft>
              <a:buNone/>
            </a:pPr>
            <a:r>
              <a:rPr sz="14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Інші ринки  +13.5%</a:t>
            </a:r>
          </a:p>
          <a:p>
            <a:pPr marL="0" indent="0">
              <a:buNone/>
            </a:pPr>
            <a:r>
              <a:rPr sz="125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У EU також впала доплата $15 — тому ціну варто переглядати саме тут.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685800" y="1666875"/>
          <a:ext cx="72390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91187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386A58E-1457-403E-AAED-21B9A0CE3FA1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8E5BF0A-6BA9-465D-8019-14083FCB05CF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ЗАВДАННЯ 3 · ГРОШІ ЗА 26.01–16.03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733785E-2DC0-4BEF-AFAF-4B783D22F897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За моделлю перехід на 9.99 додав $107 тис.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E61F2D9-1F92-4024-A1AF-CC4D8D8614B0}"/>
              </a:ext>
            </a:extLst>
          </p:cNvPr>
          <p:cNvSpPr>
            <a:spLocks noGrp="1"/>
          </p:cNvSpPr>
          <p:nvPr/>
        </p:nvSpPr>
        <p:spPr>
          <a:xfrm>
            <a:off x="8046720" y="1828800"/>
            <a:ext cx="3657600" cy="3840480"/>
          </a:xfrm>
          <a:prstGeom prst="rect">
            <a:avLst/>
          </a:prstGeom>
          <a:noFill/>
        </p:spPr>
        <p:txBody>
          <a:bodyPr wrap="square" anchor="t"/>
          <a:lstStyle/>
          <a:p>
            <a:pPr marL="0" indent="0">
              <a:buNone/>
            </a:pPr>
            <a:r>
              <a:rPr sz="28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+$107 тис.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2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додатково проти сценарію «залишили ціну 6.99»</a:t>
            </a:r>
          </a:p>
          <a:p>
            <a:pPr marL="0" indent="0">
              <a:buNone/>
            </a:pPr>
            <a:r>
              <a:rPr sz="2800" b="1">
                <a:solidFill>
                  <a:srgbClr val="D55E00"/>
                </a:solidFill>
                <a:latin typeface="Calibri"/>
                <a:ea typeface="Calibri"/>
                <a:cs typeface="Calibri"/>
              </a:rPr>
              <a:t>−$461 тис.</a:t>
            </a:r>
          </a:p>
          <a:p>
            <a:pPr marL="0" indent="0">
              <a:spcAft>
                <a:spcPts val="1200"/>
              </a:spcAft>
              <a:buNone/>
            </a:pPr>
            <a:r>
              <a:rPr sz="12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не отримали порівняно з очікуванням +42.9%</a:t>
            </a:r>
          </a:p>
          <a:p>
            <a:pPr marL="0" indent="0">
              <a:buNone/>
            </a:pPr>
            <a:r>
              <a:rPr sz="105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У розрахунку лише платники. Вплив ціни на перехід від тріалу до першої оплати невідомий.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="685800" y="1666875"/>
          <a:ext cx="72390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F75E923-C090-426F-BD0A-326A271CCE99}"/>
              </a:ext>
            </a:extLst>
          </p:cNvPr>
          <p:cNvSpPr>
            <a:spLocks noGrp="1"/>
          </p:cNvSpPr>
          <p:nvPr/>
        </p:nvSpPr>
        <p:spPr>
          <a:xfrm>
            <a:off x="1528763" y="2590800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7313C"/>
                </a:solidFill>
              </a:defRPr>
            </a:pPr>
            <a:r>
              <a:rPr sz="975" b="1" dirty="0">
                <a:solidFill>
                  <a:srgbClr val="27313C"/>
                </a:solidFill>
              </a:rPr>
              <a:t>$1.32M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9999E33-84CA-4148-968B-8524A4E8704F}"/>
              </a:ext>
            </a:extLst>
          </p:cNvPr>
          <p:cNvSpPr>
            <a:spLocks noGrp="1"/>
          </p:cNvSpPr>
          <p:nvPr/>
        </p:nvSpPr>
        <p:spPr>
          <a:xfrm>
            <a:off x="3771900" y="2438400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7313C"/>
                </a:solidFill>
              </a:defRPr>
            </a:pPr>
            <a:r>
              <a:rPr sz="975" b="1" dirty="0">
                <a:solidFill>
                  <a:srgbClr val="27313C"/>
                </a:solidFill>
              </a:rPr>
              <a:t>$1.43M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EFB48720-F192-489A-BF61-25DB246B77F0}"/>
              </a:ext>
            </a:extLst>
          </p:cNvPr>
          <p:cNvSpPr>
            <a:spLocks noGrp="1"/>
          </p:cNvSpPr>
          <p:nvPr/>
        </p:nvSpPr>
        <p:spPr>
          <a:xfrm>
            <a:off x="6057900" y="1828800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7313C"/>
                </a:solidFill>
              </a:defRPr>
            </a:pPr>
            <a:r>
              <a:rPr sz="975" b="1">
                <a:solidFill>
                  <a:srgbClr val="27313C"/>
                </a:solidFill>
              </a:rPr>
              <a:t>$1.89M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A68A201-1845-4E04-982B-99EFEE05804C}"/>
              </a:ext>
            </a:extLst>
          </p:cNvPr>
          <p:cNvSpPr>
            <a:spLocks noGrp="1"/>
          </p:cNvSpPr>
          <p:nvPr/>
        </p:nvSpPr>
        <p:spPr>
          <a:xfrm>
            <a:off x="2489789" y="2400300"/>
            <a:ext cx="1476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E69F00"/>
                </a:solidFill>
              </a:defRPr>
            </a:pPr>
            <a:r>
              <a:rPr sz="900" b="1" dirty="0">
                <a:solidFill>
                  <a:srgbClr val="E69F00"/>
                </a:solidFill>
              </a:rPr>
              <a:t>+$107 </a:t>
            </a:r>
            <a:r>
              <a:rPr sz="900" b="1" dirty="0" err="1">
                <a:solidFill>
                  <a:srgbClr val="E69F00"/>
                </a:solidFill>
              </a:rPr>
              <a:t>тис</a:t>
            </a:r>
            <a:r>
              <a:rPr sz="900" b="1" dirty="0">
                <a:solidFill>
                  <a:srgbClr val="E69F00"/>
                </a:solidFill>
              </a:rPr>
              <a:t>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5598987-5AA9-4468-87B2-1CD296DD3EE5}"/>
              </a:ext>
            </a:extLst>
          </p:cNvPr>
          <p:cNvSpPr>
            <a:spLocks noGrp="1"/>
          </p:cNvSpPr>
          <p:nvPr/>
        </p:nvSpPr>
        <p:spPr>
          <a:xfrm>
            <a:off x="4426053" y="2077593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D55E00"/>
                </a:solidFill>
              </a:defRPr>
            </a:pPr>
            <a:r>
              <a:rPr sz="900" b="1" dirty="0" err="1">
                <a:solidFill>
                  <a:srgbClr val="D55E00"/>
                </a:solidFill>
              </a:rPr>
              <a:t>не</a:t>
            </a:r>
            <a:r>
              <a:rPr sz="900" b="1" dirty="0">
                <a:solidFill>
                  <a:srgbClr val="D55E00"/>
                </a:solidFill>
              </a:rPr>
              <a:t> </a:t>
            </a:r>
            <a:r>
              <a:rPr sz="900" b="1" dirty="0" err="1">
                <a:solidFill>
                  <a:srgbClr val="D55E00"/>
                </a:solidFill>
              </a:rPr>
              <a:t>отримали</a:t>
            </a:r>
            <a:r>
              <a:rPr sz="900" b="1" dirty="0">
                <a:solidFill>
                  <a:srgbClr val="D55E00"/>
                </a:solidFill>
              </a:rPr>
              <a:t> $461 </a:t>
            </a:r>
            <a:r>
              <a:rPr sz="900" b="1" dirty="0" err="1">
                <a:solidFill>
                  <a:srgbClr val="D55E00"/>
                </a:solidFill>
              </a:rPr>
              <a:t>тис</a:t>
            </a:r>
            <a:r>
              <a:rPr sz="900" b="1" dirty="0">
                <a:solidFill>
                  <a:srgbClr val="D55E00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967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F451D0F-228D-4348-A9DA-C5DAF526EFFD}"/>
              </a:ext>
            </a:extLst>
          </p:cNvPr>
          <p:cNvSpPr>
            <a:spLocks noGrp="1"/>
          </p:cNvSpPr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</p:spPr>
        <p:txBody>
          <a:bodyPr/>
          <a:lstStyle/>
          <a:p>
            <a:endParaRPr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65204F3-D9EF-4A77-B8E9-ADA979F3AB83}"/>
              </a:ext>
            </a:extLst>
          </p:cNvPr>
          <p:cNvSpPr>
            <a:spLocks noGrp="1"/>
          </p:cNvSpPr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0072B2"/>
                </a:solidFill>
                <a:latin typeface="Calibri"/>
                <a:ea typeface="Calibri"/>
                <a:cs typeface="Calibri"/>
              </a:rPr>
              <a:t>ЗАВДАННЯ 4 · ОКУПНІСТЬ РЕКЛАМИ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467F7D0-8A16-453A-9AA2-4345DE4F17F4}"/>
              </a:ext>
            </a:extLst>
          </p:cNvPr>
          <p:cNvSpPr>
            <a:spLocks noGrp="1"/>
          </p:cNvSpPr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Реклама окупається в цілому; Google EU — перевірити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685F43A-A2CD-4905-BC6A-A5BFDF2BED2C}"/>
              </a:ext>
            </a:extLst>
          </p:cNvPr>
          <p:cNvSpPr>
            <a:spLocks noGrp="1"/>
          </p:cNvSpPr>
          <p:nvPr/>
        </p:nvSpPr>
        <p:spPr>
          <a:xfrm>
            <a:off x="6492240" y="169164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Скільки повертає $1 реклами:</a:t>
            </a:r>
          </a:p>
        </p:txBody>
      </p:sp>
      <p:graphicFrame>
        <p:nvGraphicFramePr>
          <p:cNvPr id="16" name="Table 0"/>
          <p:cNvGraphicFramePr/>
          <p:nvPr/>
        </p:nvGraphicFramePr>
        <p:xfrm>
          <a:off x="6492240" y="2057400"/>
          <a:ext cx="5166360" cy="2194560"/>
        </p:xfrm>
        <a:graphic>
          <a:graphicData uri="http://schemas.openxmlformats.org/drawingml/2006/table">
            <a:tbl>
              <a:tblPr/>
              <a:tblGrid>
                <a:gridCol w="10332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Канал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EU 6.99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EU 9.99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USA 6.99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USA 9.99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Facebook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1.60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1.23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2.01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1.94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Google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D55E00"/>
                          </a:solidFill>
                          <a:latin typeface="Calibri"/>
                          <a:ea typeface="Calibri"/>
                          <a:cs typeface="Calibri"/>
                        </a:rPr>
                        <a:t>0.88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 b="1">
                          <a:solidFill>
                            <a:srgbClr val="D55E00"/>
                          </a:solidFill>
                          <a:latin typeface="Calibri"/>
                          <a:ea typeface="Calibri"/>
                          <a:cs typeface="Calibri"/>
                        </a:rPr>
                        <a:t>0.89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1.19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1.46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TikTok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1.83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1.54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2.37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2.31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Organic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11.2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10.0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12.9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1250">
                          <a:solidFill>
                            <a:srgbClr val="26313B"/>
                          </a:solidFill>
                          <a:latin typeface="Calibri"/>
                          <a:ea typeface="Calibri"/>
                          <a:cs typeface="Calibri"/>
                        </a:rPr>
                        <a:t>12.1</a:t>
                      </a:r>
                    </a:p>
                  </a:txBody>
                  <a:tcPr anchor="ctr">
                    <a:lnL w="6350" cmpd="sng">
                      <a:solidFill>
                        <a:srgbClr val="DDDDDD"/>
                      </a:solidFill>
                      <a:prstDash val="solid"/>
                    </a:lnL>
                    <a:lnR w="6350" cmpd="sng">
                      <a:solidFill>
                        <a:srgbClr val="DDDDDD"/>
                      </a:solidFill>
                      <a:prstDash val="solid"/>
                    </a:lnR>
                    <a:lnT w="6350" cmpd="sng">
                      <a:solidFill>
                        <a:srgbClr val="DDDDDD"/>
                      </a:solidFill>
                      <a:prstDash val="solid"/>
                    </a:lnT>
                    <a:lnB w="6350" cmpd="sng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>
            <a:extLst>
              <a:ext uri="{FF2B5EF4-FFF2-40B4-BE49-F238E27FC236}">
                <a16:creationId xmlns:a16="http://schemas.microsoft.com/office/drawing/2014/main" id="{15DC5FC1-3AFC-487D-A39F-B90C8B3740D3}"/>
              </a:ext>
            </a:extLst>
          </p:cNvPr>
          <p:cNvSpPr>
            <a:spLocks noGrp="1"/>
          </p:cNvSpPr>
          <p:nvPr/>
        </p:nvSpPr>
        <p:spPr>
          <a:xfrm>
            <a:off x="6492240" y="4389120"/>
            <a:ext cx="5166360" cy="685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Показник 1 означає: $1 реклами повертає $1 доходу. Цифри Google EU $0.88–0.89 — орієнтир: витрати Google відомі, але окремого доходу саме цих клієнтів у даних немає.</a:t>
            </a: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8A7E9D98-0F06-4C4F-8482-ECE110848755}"/>
              </a:ext>
            </a:extLst>
          </p:cNvPr>
          <p:cNvSpPr>
            <a:spLocks noGrp="1"/>
          </p:cNvSpPr>
          <p:nvPr/>
        </p:nvSpPr>
        <p:spPr>
          <a:xfrm>
            <a:off x="548640" y="5166360"/>
            <a:ext cx="1115568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>
                <a:solidFill>
                  <a:srgbClr val="26313B"/>
                </a:solidFill>
                <a:latin typeface="Calibri"/>
                <a:ea typeface="Calibri"/>
                <a:cs typeface="Calibri"/>
              </a:rPr>
              <a:t>EU: окупність знизилась на 13.6%; USA — майже без змін.  Google EU нижче 1 на обох цінах — перевірити якість трафіку та фактичний дохід цих клієнтів.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="685800" y="1666875"/>
          <a:ext cx="5381625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659111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AD89420-D998-4C68-8E62-1C5A9AA46D1D}"/>
              </a:ext>
            </a:extLst>
          </p:cNvPr>
          <p:cNvSpPr>
            <a:spLocks noGrp="1"/>
          </p:cNvSpPr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Що робити з цінами</a:t>
            </a: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2F5524C-1FCB-46FC-9FBE-4A60EAE1253A}"/>
              </a:ext>
            </a:extLst>
          </p:cNvPr>
          <p:cNvSpPr>
            <a:spLocks noGrp="1"/>
          </p:cNvSpPr>
          <p:nvPr/>
        </p:nvSpPr>
        <p:spPr>
          <a:xfrm>
            <a:off x="64008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1D2F3D"/>
          </a:solidFill>
        </p:spPr>
        <p:txBody>
          <a:bodyPr/>
          <a:lstStyle/>
          <a:p>
            <a:endParaRPr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44459CF-54A1-48C5-808D-77DB861C942D}"/>
              </a:ext>
            </a:extLst>
          </p:cNvPr>
          <p:cNvSpPr>
            <a:spLocks noGrp="1"/>
          </p:cNvSpPr>
          <p:nvPr/>
        </p:nvSpPr>
        <p:spPr>
          <a:xfrm>
            <a:off x="868680" y="17830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 b="1">
                <a:solidFill>
                  <a:srgbClr val="E69F00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5586FE9-3C7B-4629-AD22-2C98B35F5043}"/>
              </a:ext>
            </a:extLst>
          </p:cNvPr>
          <p:cNvSpPr>
            <a:spLocks noGrp="1"/>
          </p:cNvSpPr>
          <p:nvPr/>
        </p:nvSpPr>
        <p:spPr>
          <a:xfrm>
            <a:off x="1508760" y="1801368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EU — відкотити 9.99 і перетестувати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C37E6E9-2BBE-49D9-B7FC-41E8FCFFCD95}"/>
              </a:ext>
            </a:extLst>
          </p:cNvPr>
          <p:cNvSpPr>
            <a:spLocks noGrp="1"/>
          </p:cNvSpPr>
          <p:nvPr/>
        </p:nvSpPr>
        <p:spPr>
          <a:xfrm>
            <a:off x="1508760" y="2377440"/>
            <a:ext cx="429768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C9D6E2"/>
                </a:solidFill>
                <a:latin typeface="Calibri"/>
                <a:ea typeface="Calibri"/>
                <a:cs typeface="Calibri"/>
              </a:rPr>
              <a:t>На 9.99 доплату $15 купують на 32% рідше, а дохід з платника нижчий на 2.3%. Наступний крок — тест проміжної ціни.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CF857FF-B833-4D88-9C95-319A28B88337}"/>
              </a:ext>
            </a:extLst>
          </p:cNvPr>
          <p:cNvSpPr>
            <a:spLocks noGrp="1"/>
          </p:cNvSpPr>
          <p:nvPr/>
        </p:nvSpPr>
        <p:spPr>
          <a:xfrm>
            <a:off x="626364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1D2F3D"/>
          </a:solidFill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AA156B3-B94B-4CEA-8511-1D8B542CA9A5}"/>
              </a:ext>
            </a:extLst>
          </p:cNvPr>
          <p:cNvSpPr>
            <a:spLocks noGrp="1"/>
          </p:cNvSpPr>
          <p:nvPr/>
        </p:nvSpPr>
        <p:spPr>
          <a:xfrm>
            <a:off x="6492240" y="17830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 b="1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953A77C-4D05-498C-8A76-231956018A66}"/>
              </a:ext>
            </a:extLst>
          </p:cNvPr>
          <p:cNvSpPr>
            <a:spLocks noGrp="1"/>
          </p:cNvSpPr>
          <p:nvPr/>
        </p:nvSpPr>
        <p:spPr>
          <a:xfrm>
            <a:off x="7132320" y="1801368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USA — залишити 9.99</a:t>
            </a: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47742211-15B7-4F02-A94D-FE5BA7F40422}"/>
              </a:ext>
            </a:extLst>
          </p:cNvPr>
          <p:cNvSpPr>
            <a:spLocks noGrp="1"/>
          </p:cNvSpPr>
          <p:nvPr/>
        </p:nvSpPr>
        <p:spPr>
          <a:xfrm>
            <a:off x="7132320" y="2377440"/>
            <a:ext cx="429768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C9D6E2"/>
                </a:solidFill>
                <a:latin typeface="Calibri"/>
                <a:ea typeface="Calibri"/>
                <a:cs typeface="Calibri"/>
              </a:rPr>
              <a:t>Дохід з платника вищий на 16.3%, окупність реклами майже не змінилась. Результат варто підтвердити новим тестом.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5D704E7-3A06-4397-B5DD-9942ED3D4287}"/>
              </a:ext>
            </a:extLst>
          </p:cNvPr>
          <p:cNvSpPr>
            <a:spLocks noGrp="1"/>
          </p:cNvSpPr>
          <p:nvPr/>
        </p:nvSpPr>
        <p:spPr>
          <a:xfrm>
            <a:off x="64008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1D2F3D"/>
          </a:solidFill>
        </p:spPr>
        <p:txBody>
          <a:bodyPr/>
          <a:lstStyle/>
          <a:p>
            <a:endParaRPr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21CA9D-1A8E-483B-AFDC-7E6EAA56C3A9}"/>
              </a:ext>
            </a:extLst>
          </p:cNvPr>
          <p:cNvSpPr>
            <a:spLocks noGrp="1"/>
          </p:cNvSpPr>
          <p:nvPr/>
        </p:nvSpPr>
        <p:spPr>
          <a:xfrm>
            <a:off x="868680" y="40233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 b="1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5ED48E6-90F1-4FAA-BDF8-97743E2B70DD}"/>
              </a:ext>
            </a:extLst>
          </p:cNvPr>
          <p:cNvSpPr>
            <a:spLocks noGrp="1"/>
          </p:cNvSpPr>
          <p:nvPr/>
        </p:nvSpPr>
        <p:spPr>
          <a:xfrm>
            <a:off x="1508760" y="4041648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Tier1 — спочатку протестувати 9.99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6A1A2496-9A6C-451D-92CC-28BBC662DD93}"/>
              </a:ext>
            </a:extLst>
          </p:cNvPr>
          <p:cNvSpPr>
            <a:spLocks noGrp="1"/>
          </p:cNvSpPr>
          <p:nvPr/>
        </p:nvSpPr>
        <p:spPr>
          <a:xfrm>
            <a:off x="1508760" y="4617720"/>
            <a:ext cx="429768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C9D6E2"/>
                </a:solidFill>
                <a:latin typeface="Calibri"/>
                <a:ea typeface="Calibri"/>
                <a:cs typeface="Calibri"/>
              </a:rPr>
              <a:t>У початковому A/B-тесті регіон не отримав нову ціну, тому підстав для рішення поки немає.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64FDEDC-BAC9-48CA-934F-5D8998708CAE}"/>
              </a:ext>
            </a:extLst>
          </p:cNvPr>
          <p:cNvSpPr>
            <a:spLocks noGrp="1"/>
          </p:cNvSpPr>
          <p:nvPr/>
        </p:nvSpPr>
        <p:spPr>
          <a:xfrm>
            <a:off x="626364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1D2F3D"/>
          </a:solidFill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5406562-2E12-4582-8BFB-65EB58C4C7DF}"/>
              </a:ext>
            </a:extLst>
          </p:cNvPr>
          <p:cNvSpPr>
            <a:spLocks noGrp="1"/>
          </p:cNvSpPr>
          <p:nvPr/>
        </p:nvSpPr>
        <p:spPr>
          <a:xfrm>
            <a:off x="6492240" y="40233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600" b="1">
                <a:solidFill>
                  <a:srgbClr val="9FB3C8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B03F771-1887-46C7-9D81-BA32BDB4143D}"/>
              </a:ext>
            </a:extLst>
          </p:cNvPr>
          <p:cNvSpPr>
            <a:spLocks noGrp="1"/>
          </p:cNvSpPr>
          <p:nvPr/>
        </p:nvSpPr>
        <p:spPr>
          <a:xfrm>
            <a:off x="7132320" y="4041648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Нові тести — рахувати всі гроші</a:t>
            </a: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8196BED-83E5-4374-9EAB-ADA10BFE0BB2}"/>
              </a:ext>
            </a:extLst>
          </p:cNvPr>
          <p:cNvSpPr>
            <a:spLocks noGrp="1"/>
          </p:cNvSpPr>
          <p:nvPr/>
        </p:nvSpPr>
        <p:spPr>
          <a:xfrm>
            <a:off x="7132320" y="4617720"/>
            <a:ext cx="4297680" cy="1143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C9D6E2"/>
                </a:solidFill>
                <a:latin typeface="Calibri"/>
                <a:ea typeface="Calibri"/>
                <a:cs typeface="Calibri"/>
              </a:rPr>
              <a:t>В одному рішенні дивитись покупку, доплату $15, повторні платежі, повернення коштів і рекламу.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2C26905-5EE8-4CDC-ADAE-EF396E6B1F31}"/>
              </a:ext>
            </a:extLst>
          </p:cNvPr>
          <p:cNvSpPr>
            <a:spLocks noGrp="1"/>
          </p:cNvSpPr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>
                <a:solidFill>
                  <a:srgbClr val="7A8791"/>
                </a:solidFill>
                <a:latin typeface="Calibri"/>
                <a:ea typeface="Calibri"/>
                <a:cs typeface="Calibri"/>
              </a:rPr>
              <a:t>Підсумок: одна ціна для всіх регіонів не працює.</a:t>
            </a:r>
          </a:p>
        </p:txBody>
      </p:sp>
    </p:spTree>
    <p:extLst>
      <p:ext uri="{BB962C8B-B14F-4D97-AF65-F5344CB8AC3E}">
        <p14:creationId xmlns:p14="http://schemas.microsoft.com/office/powerpoint/2010/main" val="1256741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1973</Words>
  <Application>Microsoft Office PowerPoint</Application>
  <DocSecurity>0</DocSecurity>
  <PresentationFormat>Широкоэкранный</PresentationFormat>
  <Paragraphs>205</Paragraphs>
  <Slides>13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finance</cp:lastModifiedBy>
  <cp:revision>1</cp:revision>
  <dcterms:created xsi:type="dcterms:W3CDTF">2026-07-20T18:04:22Z</dcterms:created>
  <dcterms:modified xsi:type="dcterms:W3CDTF">2026-07-20T18:31:35Z</dcterms:modified>
</cp:coreProperties>
</file>