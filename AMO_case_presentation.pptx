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70363" autoAdjust="0"/>
  </p:normalViewPr>
  <p:slideViewPr>
    <p:cSldViewPr snapToGrid="0" snapToObjects="1">
      <p:cViewPr varScale="1">
        <p:scale>
          <a:sx n="73" d="100"/>
          <a:sy n="73" d="100"/>
        </p:scale>
        <p:origin x="130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8133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Пів року тому компанія підняла ціну на 42.9%, бо тест показав, що конверсія не впала. CEO не бачить цих відсотків у виручці. Я перевірив повний ланцюжок: конверсію, LTV, фактичний Revenue і окупність реклами. Коротка відповідь: гроші виросли, але в 17 разів слабше за обіцянку, а в Європі нова ціна взагалі шкодить.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Контекст: рішення ухвалили за однією метрикою — конверсією. Одночасно три команди скаржаться на симптоми. Моє завдання — перевірити рішення по всьому ланцюжку грошей.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Якщо запам'ятати один слайд — цей. LTV виріс на 2.5% замість 42.9%. Грошей за вікно отримали 16% від обіцяного приросту. А в Європі нова ціна знищує цінність юзера — там LTV нижчий, ніж на старій ціні.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Чотири проблеми даних знайдено і виправлено. Найцінніша — контамінація Tier1: регіон не отримав нову ціну, тож став природним A/A-контролем. Він тричі підтвердив, що методологія чиста: скрізь, де ефекту бути не повинно, його й немає.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Перше питання кейсу: чи правильно тоді прочитали тест? Так — конверсія в покупку не змінилась, підтверджую z-тестами. Різниці скрізь у межах шуму, і в A/A-групі «ефект» навіть більший, ніж у реальних порівняннях. Але це була єдина метрика, яку вони дивились.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 ось що не перевірили. Апсел показують лише покупцям, і в EU його attach упав з 24.6% до 16.4% — мінус третина, p менше 0.0001. Це перший механізм, через який +42.9% не могли справдитись.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Важливий момент для очікувань: третина виручки покупця — фіксований апсел $15, який з ціною не росте. Тому навіть в ідеальному світі максимум був +28-30%, а не +42.9%. Частина «недобору» — не проблема, а хибний бенчмарк.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Друге питання кейсу — LTV на 1.5 місяця, з рефандами, чарджбеками і апселом. Наївне очікування $24.71, факт $17.72. Водоспад показує внесок кожної причини: retention коштує вчетверо дорожче за все інше. Скарга сапорту реальна, але фінансово другорядна.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Ось він — головний механізм. До другого списання на старій ціні доживає 49%, на новій — 31%. Я перевірив по тижневих когортах: розрив стабільний, це системна поведінка, а не разовий сплеск.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 розрізі регіонів вся проблема сидить у Європі: мінус 2.3% LTV. Штати і Other у плюсі, хоч і далеко від обіцянки. Це той самий регіон, де обвалився апсел — реакція ринку на ціну послідовна.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Третє питання: скільки грошей. Рахую по датах фактичних списань. Порівняно зі світом без підвищення компанія у плюсі на 93 тисячі — рішення не провальне. Але обіцянка +42.9% коштувала б +584 тисячі. Отримали 16% обіцяного.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Останнє питання — окупність залучення. Скарга маркетингу підтверджена і локалізована: подорожчав лише Facebook, і лише в армі з реальною ціною 9.99 — в A/A-регіоні росту немає. Підсумковий ROAS: у EU окупність погіршилась, у USA — покращилась. Все окупається, питання лише де нова ціна зробила гірше. Відповідь — EU.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Підсумок. Диференціювати ціни: Європі нова ціна шкодить — відкат або тест проміжної. Штатам — лишити. Tier1 — спершу полагодити доставку ціни, він нову ціну ще не бачив. І процесний висновок: цінові рішення ухвалювати за повною економікою, а не за однією метрикою. Дякую — готовий до питань.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7498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Ціна 6.99 → 9.99:</a:t>
            </a:r>
            <a:endParaRPr lang="en-US" sz="4400" dirty="0"/>
          </a:p>
          <a:p>
            <a:pPr marL="0" indent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сталося насправді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40080" y="3520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Аудит цінового рішення: конверсія · LTV · Revenue · ROAS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40080" y="6126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Олександр Непоп  ·  Genesis Analytics Camp 3.0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595360" y="2148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8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обіцяли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595360" y="24688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+42.9%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8595360" y="3520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отримали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95360" y="38404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E69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+2.5%</a:t>
            </a:r>
            <a:endParaRPr lang="en-US" sz="6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02336"/>
            <a:ext cx="109728" cy="109728"/>
          </a:xfrm>
          <a:prstGeom prst="ellipse">
            <a:avLst/>
          </a:prstGeom>
          <a:solidFill>
            <a:srgbClr val="0072B2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3" name="Text 1"/>
          <p:cNvSpPr/>
          <p:nvPr/>
        </p:nvSpPr>
        <p:spPr>
          <a:xfrm>
            <a:off x="68580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7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сталося і про що питає CEO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63093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Продукт: підписка на тренування, $6.99/тиждень, ринки USA / EU / Tier-1.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Пів року тому: A/B-тест 6.99 vs 9.99 → «конверсія не впала» → ціну підняли.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Після тесту 9.99 розкатили на 50% трафіку.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Скарги команд: мобайл — «просів retention», сапорт — «більше рефандів», маркетинг — «залучення подорожчало».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223760" y="1828800"/>
            <a:ext cx="4389120" cy="3108960"/>
          </a:xfrm>
          <a:prstGeom prst="roundRect">
            <a:avLst>
              <a:gd name="adj" fmla="val 2941"/>
            </a:avLst>
          </a:prstGeom>
          <a:solidFill>
            <a:srgbClr val="EFF6FB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7" name="Text 5"/>
          <p:cNvSpPr/>
          <p:nvPr/>
        </p:nvSpPr>
        <p:spPr>
          <a:xfrm>
            <a:off x="7498080" y="2148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Питання CEO: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98080" y="2606040"/>
            <a:ext cx="3840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«Ціна +42%, а в Revenue такого росту немає.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i="1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 тоді ухвалили правильне рішення?»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02336"/>
            <a:ext cx="109728" cy="109728"/>
          </a:xfrm>
          <a:prstGeom prst="ellipse">
            <a:avLst/>
          </a:prstGeom>
          <a:solidFill>
            <a:srgbClr val="E69F00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3" name="Text 1"/>
          <p:cNvSpPr/>
          <p:nvPr/>
        </p:nvSpPr>
        <p:spPr>
          <a:xfrm>
            <a:off x="68580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9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TL;DR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числа замість тисячі слів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FDF6E6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6" name="Text 4"/>
          <p:cNvSpPr/>
          <p:nvPr/>
        </p:nvSpPr>
        <p:spPr>
          <a:xfrm>
            <a:off x="777240" y="1984248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69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+2.5%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77240" y="32004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ріст LTV на юзера (49 днів)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замість обіцяних +42.9%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178308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EFF6FB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9" name="Text 7"/>
          <p:cNvSpPr/>
          <p:nvPr/>
        </p:nvSpPr>
        <p:spPr>
          <a:xfrm>
            <a:off x="4572000" y="1984248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07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16%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572000" y="32004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обіцяного приросту грошей отримано: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+$93 тис. із +$584 тис. за 7 тижнів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38160" y="178308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FBEEE7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12" name="Text 10"/>
          <p:cNvSpPr/>
          <p:nvPr/>
        </p:nvSpPr>
        <p:spPr>
          <a:xfrm>
            <a:off x="8366760" y="1984248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D5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−2.3%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8366760" y="32004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у EU на новій ціні: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там підвищення РУЙНУЄ цінність юзера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466344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Вердикт: </a:t>
            </a:r>
            <a:r>
              <a:rPr lang="en-US" sz="1600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рішення не збиткове, але обіцянка була недосяжною, а в EU нова ціна шкодить.  </a:t>
            </a:r>
            <a:r>
              <a:rPr lang="en-US" sz="1600" b="1" dirty="0">
                <a:solidFill>
                  <a:srgbClr val="007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Рекомендація: диференціювати ціни по регіонах.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02336"/>
            <a:ext cx="109728" cy="109728"/>
          </a:xfrm>
          <a:prstGeom prst="ellipse">
            <a:avLst/>
          </a:prstGeom>
          <a:solidFill>
            <a:srgbClr val="0072B2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3" name="Text 1"/>
          <p:cNvSpPr/>
          <p:nvPr/>
        </p:nvSpPr>
        <p:spPr>
          <a:xfrm>
            <a:off x="68580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7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ДАНІ І МЕТОДОЛОГІЯ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Спершу почистили дані — потім рахували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457200" cy="457200"/>
          </a:xfrm>
          <a:prstGeom prst="ellipse">
            <a:avLst/>
          </a:prstGeom>
          <a:solidFill>
            <a:srgbClr val="0072B2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78308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Дублі.  </a:t>
            </a:r>
            <a:r>
              <a:rPr lang="en-US" sz="1350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1 131 повний дубль рядків видалено (усі — control/click).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761488"/>
            <a:ext cx="457200" cy="457200"/>
          </a:xfrm>
          <a:prstGeom prst="ellipse">
            <a:avLst/>
          </a:prstGeom>
          <a:solidFill>
            <a:srgbClr val="0072B2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9" name="Text 7"/>
          <p:cNvSpPr/>
          <p:nvPr/>
        </p:nvSpPr>
        <p:spPr>
          <a:xfrm>
            <a:off x="548640" y="2761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2715768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«Одноногий» день.  </a:t>
            </a:r>
            <a:r>
              <a:rPr lang="en-US" sz="1350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09.01 працював лише control (4 073 клікери) — баг сплітовалки, день виключено.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694176"/>
            <a:ext cx="457200" cy="457200"/>
          </a:xfrm>
          <a:prstGeom prst="ellipse">
            <a:avLst/>
          </a:prstGeom>
          <a:solidFill>
            <a:srgbClr val="0072B2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12" name="Text 10"/>
          <p:cNvSpPr/>
          <p:nvPr/>
        </p:nvSpPr>
        <p:spPr>
          <a:xfrm>
            <a:off x="548640" y="3694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3648456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Валідне вікно тесту.  </a:t>
            </a:r>
            <a:r>
              <a:rPr lang="en-US" sz="1350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10–24.01 — визначено за динамікою подій, а не за діапазоном файлу.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626864"/>
            <a:ext cx="457200" cy="457200"/>
          </a:xfrm>
          <a:prstGeom prst="ellipse">
            <a:avLst/>
          </a:prstGeom>
          <a:solidFill>
            <a:srgbClr val="0072B2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15" name="Text 13"/>
          <p:cNvSpPr/>
          <p:nvPr/>
        </p:nvSpPr>
        <p:spPr>
          <a:xfrm>
            <a:off x="548640" y="4626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34440" y="4581144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Контамінація Tier1.  </a:t>
            </a:r>
            <a:r>
              <a:rPr lang="en-US" sz="1350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тест-арм Tier1 так і не побачив 9.99 → регіон виключено з цінових порівнянь.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406640" y="1783080"/>
            <a:ext cx="4206240" cy="3657600"/>
          </a:xfrm>
          <a:prstGeom prst="roundRect">
            <a:avLst>
              <a:gd name="adj" fmla="val 2500"/>
            </a:avLst>
          </a:prstGeom>
          <a:solidFill>
            <a:srgbClr val="F2F4F6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18" name="Text 16"/>
          <p:cNvSpPr/>
          <p:nvPr/>
        </p:nvSpPr>
        <p:spPr>
          <a:xfrm>
            <a:off x="7680960" y="20116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Бонус знахідки: Tier1 = випадковий A/A-контроль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680960" y="269748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Ціна там не змінювалась → різниць бути не повинно. Перевірка спрацювала тричі: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конверсія: різниця = шум (p=0.23)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апсел: різниця = шум (p=0.91)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CPC реклами: різниці немає (−1.6%)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Інструмент вимірювання чистий — цифрам можна вірити.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02336"/>
            <a:ext cx="109728" cy="109728"/>
          </a:xfrm>
          <a:prstGeom prst="ellipse">
            <a:avLst/>
          </a:prstGeom>
          <a:solidFill>
            <a:srgbClr val="0072B2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3" name="Text 1"/>
          <p:cNvSpPr/>
          <p:nvPr/>
        </p:nvSpPr>
        <p:spPr>
          <a:xfrm>
            <a:off x="68580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7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ЗАВДАННЯ 1 · КОНВЕРСІЯ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«Конверсія не впала» — правда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9232006"/>
              </p:ext>
            </p:extLst>
          </p:nvPr>
        </p:nvGraphicFramePr>
        <p:xfrm>
          <a:off x="548640" y="1920240"/>
          <a:ext cx="6583680" cy="237744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26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Регіон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26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 6.99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26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 9.99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26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6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6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5.22%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6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5.43%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6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 — шум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6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6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6.99%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6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7.14%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6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 — шум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6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Tier1 </a:t>
                      </a:r>
                      <a:r>
                        <a:rPr lang="en-US" sz="1500" b="1" dirty="0">
                          <a:solidFill>
                            <a:srgbClr val="26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(A/A)</a:t>
                      </a:r>
                      <a:endParaRPr lang="en-US" sz="15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6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6.36%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6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6.92%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6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 — шум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3"/>
          <p:cNvSpPr/>
          <p:nvPr/>
        </p:nvSpPr>
        <p:spPr>
          <a:xfrm>
            <a:off x="7589520" y="1920240"/>
            <a:ext cx="4023360" cy="2377440"/>
          </a:xfrm>
          <a:prstGeom prst="roundRect">
            <a:avLst>
              <a:gd name="adj" fmla="val 3846"/>
            </a:avLst>
          </a:prstGeom>
          <a:solidFill>
            <a:srgbClr val="EFF6FB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7" name="Text 4"/>
          <p:cNvSpPr/>
          <p:nvPr/>
        </p:nvSpPr>
        <p:spPr>
          <a:xfrm>
            <a:off x="786384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7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863840" y="288036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цій частині компанія мала рацію: ціна не вплинула на конверсію в покупку.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548640" y="4572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Two-proportion z-тест, вікно 10–24.01, унікальні юзери; «дрижання» A/A більше за «ефект» у EU/USA.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02336"/>
            <a:ext cx="109728" cy="109728"/>
          </a:xfrm>
          <a:prstGeom prst="ellipse">
            <a:avLst/>
          </a:prstGeom>
          <a:solidFill>
            <a:srgbClr val="D55E00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3" name="Text 1"/>
          <p:cNvSpPr/>
          <p:nvPr/>
        </p:nvSpPr>
        <p:spPr>
          <a:xfrm>
            <a:off x="68580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5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ЗАВДАННЯ 1 · АПСЕЛ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…але апсел у EU обвалився на третину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D5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−33%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548640" y="32918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конверсії в апсел (OTP, $15)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EU на ціні 9.99 · p &lt; 0.0001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874520"/>
          <a:ext cx="6766560" cy="2377440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6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Регіон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6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attach 6.99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6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attach 9.99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6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висновок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6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6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24.6%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6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16.4%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6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−33% · значуще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6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6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19.6%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6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17.4%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6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нахил вниз, не значуще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6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Tier1 (A/A)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6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30.6%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6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6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чисто (p=0.91)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45720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Дорожча підписка «з'їдає» готовність доплачувати $15 зверху. Компанія цю метрику не перевіряла жодного разу.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02336"/>
            <a:ext cx="109728" cy="109728"/>
          </a:xfrm>
          <a:prstGeom prst="ellipse">
            <a:avLst/>
          </a:prstGeom>
          <a:solidFill>
            <a:srgbClr val="0072B2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3" name="Text 1"/>
          <p:cNvSpPr/>
          <p:nvPr/>
        </p:nvSpPr>
        <p:spPr>
          <a:xfrm>
            <a:off x="68580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7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ЧОМУ +42.9% БУЛИ НЕМОЖЛИВІ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Підняли ціну лише частині виручки — а чекали ріст від усієї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8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Виручка з покупця (EU, до підвищення):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4828032" cy="1005840"/>
          </a:xfrm>
          <a:prstGeom prst="rect">
            <a:avLst/>
          </a:prstGeom>
          <a:solidFill>
            <a:srgbClr val="0072B2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7" name="Shape 5"/>
          <p:cNvSpPr/>
          <p:nvPr/>
        </p:nvSpPr>
        <p:spPr>
          <a:xfrm>
            <a:off x="5422392" y="2286000"/>
            <a:ext cx="2487168" cy="1005840"/>
          </a:xfrm>
          <a:prstGeom prst="rect">
            <a:avLst/>
          </a:prstGeom>
          <a:solidFill>
            <a:srgbClr val="E69F00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8" name="Text 6"/>
          <p:cNvSpPr/>
          <p:nvPr/>
        </p:nvSpPr>
        <p:spPr>
          <a:xfrm>
            <a:off x="731520" y="2395728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підписка · 66%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росте на +42.9%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577840" y="239572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$15 · 34%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росте: 0%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48640" y="3657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8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Ріст цілого = середньозважений ріст частин: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406908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42.9% × 0.66  +  0% × 0.34  ≈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760720" y="379476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+28%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8138160" y="39776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стеля EU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A8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(USA ≈ +30%)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595360" y="2011680"/>
            <a:ext cx="3063240" cy="1463040"/>
          </a:xfrm>
          <a:prstGeom prst="roundRect">
            <a:avLst>
              <a:gd name="adj" fmla="val 6250"/>
            </a:avLst>
          </a:prstGeom>
          <a:solidFill>
            <a:srgbClr val="FBEEE7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15" name="Text 13"/>
          <p:cNvSpPr/>
          <p:nvPr/>
        </p:nvSpPr>
        <p:spPr>
          <a:xfrm>
            <a:off x="8823960" y="2212848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5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Бенчмарк «+42.9% до виручки» був хибним із самого початку.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52120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8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 ще ДО будь-яких змін поведінки юзерів — чиста арифметика структури виручки.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02336"/>
            <a:ext cx="109728" cy="109728"/>
          </a:xfrm>
          <a:prstGeom prst="ellipse">
            <a:avLst/>
          </a:prstGeom>
          <a:solidFill>
            <a:srgbClr val="E69F00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3" name="Text 1"/>
          <p:cNvSpPr/>
          <p:nvPr/>
        </p:nvSpPr>
        <p:spPr>
          <a:xfrm>
            <a:off x="68580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9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ЗАВДАННЯ 2 · LTV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за 49 днів: +2.5% замість +42.9%</a:t>
            </a:r>
            <a:endParaRPr lang="en-US" sz="3000" dirty="0"/>
          </a:p>
        </p:txBody>
      </p:sp>
      <p:pic>
        <p:nvPicPr>
          <p:cNvPr id="5" name="Image 0" descr="C:\Users\Miller\AppData\Local\Temp\claude\C--Users-Miller-Desktop-amo-case-nepop\aec1882d-a317-45bb-b012-96f699d178f4\scratchpad\pptx_build\c_waterf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00200"/>
            <a:ext cx="8138160" cy="390448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869680" y="1828800"/>
            <a:ext cx="2834640" cy="3291840"/>
          </a:xfrm>
          <a:prstGeom prst="roundRect">
            <a:avLst>
              <a:gd name="adj" fmla="val 3226"/>
            </a:avLst>
          </a:prstGeom>
          <a:solidFill>
            <a:srgbClr val="F2F4F6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7" name="Text 4"/>
          <p:cNvSpPr/>
          <p:nvPr/>
        </p:nvSpPr>
        <p:spPr>
          <a:xfrm>
            <a:off x="9098280" y="20116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Куди зникли $6.99/юзера: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098280" y="2560320"/>
            <a:ext cx="24688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5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 −$4.08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механіка OTP  −$1.53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канібалізація  −$0.94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рефанди  −$0.40</a:t>
            </a:r>
            <a:endParaRPr lang="en-US" sz="13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чарджбеки  −$0.04</a:t>
            </a:r>
            <a:endParaRPr lang="en-US" sz="1300" dirty="0"/>
          </a:p>
          <a:p>
            <a:pPr marL="0" indent="0">
              <a:buNone/>
            </a:pPr>
            <a:r>
              <a:rPr lang="en-US" sz="1150" dirty="0">
                <a:solidFill>
                  <a:srgbClr val="7A8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Рефанди реальні, але ×8 менші за retention.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02336"/>
            <a:ext cx="109728" cy="109728"/>
          </a:xfrm>
          <a:prstGeom prst="ellipse">
            <a:avLst/>
          </a:prstGeom>
          <a:solidFill>
            <a:srgbClr val="D55E00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3" name="Text 1"/>
          <p:cNvSpPr/>
          <p:nvPr/>
        </p:nvSpPr>
        <p:spPr>
          <a:xfrm>
            <a:off x="68580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5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ЗАВДАННЯ 2 · ГОЛОВНИЙ ВИНУВАТЕЦЬ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Retention: на 9.99 юзери йдуть швидше</a:t>
            </a:r>
            <a:endParaRPr lang="en-US" sz="3000" dirty="0"/>
          </a:p>
        </p:txBody>
      </p:sp>
      <p:pic>
        <p:nvPicPr>
          <p:cNvPr id="5" name="Image 0" descr="C:\Users\Miller\AppData\Local\Temp\claude\C--Users-Miller-Desktop-amo-case-nepop\aec1882d-a317-45bb-b012-96f699d178f4\scratchpad\pptx_build\c_reten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0"/>
            <a:ext cx="7315200" cy="3739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38160" y="19202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49% vs 31%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8138160" y="26517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8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доживають до другого платежу (6.99 проти 9.99)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138160" y="338328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Розрив 16–20 п.п. стабільний у всіх тижневих когортах — не артефакт однієї хвилі.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Гіпотеза мобільної команди підтверджена.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02336"/>
            <a:ext cx="109728" cy="109728"/>
          </a:xfrm>
          <a:prstGeom prst="ellipse">
            <a:avLst/>
          </a:prstGeom>
          <a:solidFill>
            <a:srgbClr val="D55E00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3" name="Text 1"/>
          <p:cNvSpPr/>
          <p:nvPr/>
        </p:nvSpPr>
        <p:spPr>
          <a:xfrm>
            <a:off x="68580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5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ЗАВДАННЯ 2 · СЕГМЕНТИ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 сконцентрована в EU</a:t>
            </a:r>
            <a:endParaRPr lang="en-US" sz="3000" dirty="0"/>
          </a:p>
        </p:txBody>
      </p:sp>
      <p:pic>
        <p:nvPicPr>
          <p:cNvPr id="5" name="Image 0" descr="C:\Users\Miller\AppData\Local\Temp\claude\C--Users-Miller-Desktop-amo-case-nepop\aec1882d-a317-45bb-b012-96f699d178f4\scratchpad\pptx_build\c_ltv_reg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0"/>
            <a:ext cx="7315200" cy="3739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38160" y="19202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D5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−2.3%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8138160" y="26974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на 9.99 НИЖЧИЙ, ніж на 6.99 — нова ціна в EU збиткова відносно старої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138160" y="365760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 +16.3%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 +13.5%</a:t>
            </a:r>
            <a:endParaRPr lang="en-US" sz="1400" dirty="0"/>
          </a:p>
          <a:p>
            <a:pPr marL="0" indent="0">
              <a:buNone/>
            </a:pPr>
            <a:r>
              <a:rPr lang="en-US" sz="1250" dirty="0">
                <a:solidFill>
                  <a:srgbClr val="7A8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Той самий регіон EU, де значуще впав апсел. Один ринок — інша реакція.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02336"/>
            <a:ext cx="109728" cy="109728"/>
          </a:xfrm>
          <a:prstGeom prst="ellipse">
            <a:avLst/>
          </a:prstGeom>
          <a:solidFill>
            <a:srgbClr val="0072B2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3" name="Text 1"/>
          <p:cNvSpPr/>
          <p:nvPr/>
        </p:nvSpPr>
        <p:spPr>
          <a:xfrm>
            <a:off x="68580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7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ЗАВДАННЯ 3 · ГРОШІ ЗА 26.01–16.03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Заробили +$93 тис. — з обіцяних +$584 тис.</a:t>
            </a:r>
            <a:endParaRPr lang="en-US" sz="3000" dirty="0"/>
          </a:p>
        </p:txBody>
      </p:sp>
      <p:pic>
        <p:nvPicPr>
          <p:cNvPr id="5" name="Image 0" descr="C:\Users\Miller\AppData\Local\Temp\claude\C--Users-Miller-Desktop-amo-case-nepop\aec1882d-a317-45bb-b012-96f699d178f4\scratchpad\pptx_build\c_worl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0"/>
            <a:ext cx="7315200" cy="39136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46720" y="1920240"/>
            <a:ext cx="3657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E69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+$93 тис.</a:t>
            </a:r>
            <a:endParaRPr lang="en-US" sz="30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250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проти світу «лишились на 6.99» — рішення не збиткове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D5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−$491 тис.</a:t>
            </a:r>
            <a:endParaRPr lang="en-US" sz="3000" dirty="0"/>
          </a:p>
          <a:p>
            <a:pPr marL="0" indent="0">
              <a:buNone/>
            </a:pPr>
            <a:r>
              <a:rPr lang="en-US" sz="1250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недобір до обіцянки за 7 тижнів; ARPU виріс лише на +6.8%</a:t>
            </a:r>
            <a:endParaRPr lang="en-US" sz="3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02336"/>
            <a:ext cx="109728" cy="109728"/>
          </a:xfrm>
          <a:prstGeom prst="ellipse">
            <a:avLst/>
          </a:prstGeom>
          <a:solidFill>
            <a:srgbClr val="0072B2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3" name="Text 1"/>
          <p:cNvSpPr/>
          <p:nvPr/>
        </p:nvSpPr>
        <p:spPr>
          <a:xfrm>
            <a:off x="685800" y="292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7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ЗАВДАННЯ 4 · ОКУПНІСТЬ РЕКЛАМИ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ROAS: EU гіршає з обох боків, USA — росте</a:t>
            </a:r>
            <a:endParaRPr lang="en-US" sz="3000" dirty="0"/>
          </a:p>
        </p:txBody>
      </p:sp>
      <p:pic>
        <p:nvPicPr>
          <p:cNvPr id="5" name="Image 0" descr="C:\Users\Miller\AppData\Local\Temp\claude\C--Users-Miller-Desktop-amo-case-nepop\aec1882d-a317-45bb-b012-96f699d178f4\scratchpad\pptx_build\c_ro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91640"/>
            <a:ext cx="5623560" cy="2880360"/>
          </a:xfrm>
          <a:prstGeom prst="rect">
            <a:avLst/>
          </a:prstGeom>
        </p:spPr>
      </p:pic>
      <p:pic>
        <p:nvPicPr>
          <p:cNvPr id="6" name="Image 1" descr="C:\Users\Miller\AppData\Local\Temp\claude\C--Users-Miller-Desktop-amo-case-nepop\aec1882d-a317-45bb-b012-96f699d178f4\scratchpad\pptx_build\c_cp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691640"/>
            <a:ext cx="5623560" cy="2880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484632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EU: 1.29 → 1.21 (−6.7%) — цінність юзера впала, а клік подорожчав (CAC +4.7%).  USA: 1.82 → 2.00 (+9.6%).  </a:t>
            </a:r>
            <a:r>
              <a:rPr lang="en-US" sz="1350" b="1" dirty="0">
                <a:solidFill>
                  <a:srgbClr val="26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Подорожчання приніс лише Facebook (+13.5%) і лише там, де реально доставлено 9.99.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21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робити з цінами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5349240" cy="2011680"/>
          </a:xfrm>
          <a:prstGeom prst="roundRect">
            <a:avLst>
              <a:gd name="adj" fmla="val 4545"/>
            </a:avLst>
          </a:prstGeom>
          <a:solidFill>
            <a:srgbClr val="1D2F3D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4" name="Text 2"/>
          <p:cNvSpPr/>
          <p:nvPr/>
        </p:nvSpPr>
        <p:spPr>
          <a:xfrm>
            <a:off x="86868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69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508760" y="180136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— відкотити або перетестувати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508760" y="2377440"/>
            <a:ext cx="4297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9.99 шкодить апселу (−33%), LTV (−2.3%) і ROAS (−6.7%). Кандидат: проміжна ціна 7.99–8.49 через новий тест.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5349240" cy="2011680"/>
          </a:xfrm>
          <a:prstGeom prst="roundRect">
            <a:avLst>
              <a:gd name="adj" fmla="val 4545"/>
            </a:avLst>
          </a:prstGeom>
          <a:solidFill>
            <a:srgbClr val="1D2F3D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8" name="Text 6"/>
          <p:cNvSpPr/>
          <p:nvPr/>
        </p:nvSpPr>
        <p:spPr>
          <a:xfrm>
            <a:off x="649224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132320" y="180136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— лишити 9.99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132320" y="2377440"/>
            <a:ext cx="4297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Ринок переварив підвищення: LTV +16.3%, ROAS +9.6%. Відкат означав би відмову від реального приросту.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840480"/>
            <a:ext cx="5349240" cy="2011680"/>
          </a:xfrm>
          <a:prstGeom prst="roundRect">
            <a:avLst>
              <a:gd name="adj" fmla="val 4545"/>
            </a:avLst>
          </a:prstGeom>
          <a:solidFill>
            <a:srgbClr val="1D2F3D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12" name="Text 10"/>
          <p:cNvSpPr/>
          <p:nvPr/>
        </p:nvSpPr>
        <p:spPr>
          <a:xfrm>
            <a:off x="868680" y="4023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508760" y="404164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Tier1 — полагодити доставку ціни, потім тест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508760" y="4617720"/>
            <a:ext cx="4297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Регіон жодного разу не бачив 9.99 (баг розкатки). За даними розкатки Other реагує схоже на USA — тест перспективний.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63640" y="3840480"/>
            <a:ext cx="5349240" cy="2011680"/>
          </a:xfrm>
          <a:prstGeom prst="roundRect">
            <a:avLst>
              <a:gd name="adj" fmla="val 4545"/>
            </a:avLst>
          </a:prstGeom>
          <a:solidFill>
            <a:srgbClr val="1D2F3D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16" name="Text 14"/>
          <p:cNvSpPr/>
          <p:nvPr/>
        </p:nvSpPr>
        <p:spPr>
          <a:xfrm>
            <a:off x="6492240" y="4023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132320" y="404164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Процес — тестувати повну економіку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7132320" y="4617720"/>
            <a:ext cx="4297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наступних цінових тестах дивитись апсел, retention, рефанди і CAC, а не лише конверсію: саме там зникли 5/6 обіцяного росту.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Розрахунки відтворюються: amo_case_analysis.ipynb · Run All  ·  висновки: conclusions_final.md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1672</Words>
  <Application>Microsoft Office PowerPoint</Application>
  <PresentationFormat>Широкоэкранный</PresentationFormat>
  <Paragraphs>174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finance</cp:lastModifiedBy>
  <cp:revision>2</cp:revision>
  <dcterms:created xsi:type="dcterms:W3CDTF">2026-07-19T17:17:03Z</dcterms:created>
  <dcterms:modified xsi:type="dcterms:W3CDTF">2026-07-19T18:04:55Z</dcterms:modified>
</cp:coreProperties>
</file>