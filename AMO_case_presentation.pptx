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4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c6efd958904f87" /><Relationship Type="http://schemas.openxmlformats.org/officeDocument/2006/relationships/extended-properties" Target="/docProps/app.xml" Id="R5c0934ff53ce4117" /><Relationship Type="http://schemas.openxmlformats.org/officeDocument/2006/relationships/officeDocument" Target="/ppt/presentation.xml" Id="R9084534c523b45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ae67fb3a58499d"/>
  </p:sldMasterIdLst>
  <p:notesMasterIdLst>
    <p:notesMasterId xmlns:r="http://schemas.openxmlformats.org/officeDocument/2006/relationships" r:id="R7db6f1844fa24d45"/>
  </p:notesMasterIdLst>
  <p:sldIdLst>
    <p:sldId xmlns:r="http://schemas.openxmlformats.org/officeDocument/2006/relationships" id="256" r:id="R50cb7ba90d4d42ed"/>
    <p:sldId xmlns:r="http://schemas.openxmlformats.org/officeDocument/2006/relationships" id="257" r:id="R7f6f2c8680114009"/>
    <p:sldId xmlns:r="http://schemas.openxmlformats.org/officeDocument/2006/relationships" id="258" r:id="R328373591a694e8e"/>
    <p:sldId xmlns:r="http://schemas.openxmlformats.org/officeDocument/2006/relationships" id="259" r:id="R60bd680b8f5c468c"/>
    <p:sldId xmlns:r="http://schemas.openxmlformats.org/officeDocument/2006/relationships" id="260" r:id="R940ad0c1d22d43eb"/>
    <p:sldId xmlns:r="http://schemas.openxmlformats.org/officeDocument/2006/relationships" id="261" r:id="Re95f5ff4ced44d4a"/>
    <p:sldId xmlns:r="http://schemas.openxmlformats.org/officeDocument/2006/relationships" id="262" r:id="Ra6de2ae4d9aa4c16"/>
    <p:sldId xmlns:r="http://schemas.openxmlformats.org/officeDocument/2006/relationships" id="263" r:id="R6883d43c58de428f"/>
    <p:sldId xmlns:r="http://schemas.openxmlformats.org/officeDocument/2006/relationships" id="264" r:id="Rd33de0241f0a4afd"/>
    <p:sldId xmlns:r="http://schemas.openxmlformats.org/officeDocument/2006/relationships" id="265" r:id="R989d741ee5014707"/>
    <p:sldId xmlns:r="http://schemas.openxmlformats.org/officeDocument/2006/relationships" id="266" r:id="Re8abb07f9c7148fe"/>
    <p:sldId xmlns:r="http://schemas.openxmlformats.org/officeDocument/2006/relationships" id="267" r:id="Rda3af90735184799"/>
    <p:sldId xmlns:r="http://schemas.openxmlformats.org/officeDocument/2006/relationships" id="268" r:id="R9b01be70fff14a5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2bc4d875bf479c" /><Relationship Type="http://schemas.openxmlformats.org/officeDocument/2006/relationships/slideMaster" Target="/ppt/slideMasters/slideMaster1.xml" Id="R1aae67fb3a58499d" /><Relationship Type="http://schemas.openxmlformats.org/officeDocument/2006/relationships/notesMaster" Target="/ppt/notesMasters/notesMaster1.xml" Id="R7db6f1844fa24d45" /><Relationship Type="http://schemas.openxmlformats.org/officeDocument/2006/relationships/presProps" Target="/ppt/presProps.xml" Id="R30651ac1169d445f" /><Relationship Type="http://schemas.openxmlformats.org/officeDocument/2006/relationships/viewProps" Target="/ppt/viewProps.xml" Id="Rb7ab46c22b724988" /><Relationship Type="http://schemas.openxmlformats.org/officeDocument/2006/relationships/tableStyles" Target="/ppt/tableStyles.xml" Id="R144ee8ec19cd4571" /><Relationship Type="http://schemas.openxmlformats.org/officeDocument/2006/relationships/slide" Target="/ppt/slides/slide1.xml" Id="R50cb7ba90d4d42ed" /><Relationship Type="http://schemas.openxmlformats.org/officeDocument/2006/relationships/slide" Target="/ppt/slides/slide2.xml" Id="R7f6f2c8680114009" /><Relationship Type="http://schemas.openxmlformats.org/officeDocument/2006/relationships/slide" Target="/ppt/slides/slide3.xml" Id="R328373591a694e8e" /><Relationship Type="http://schemas.openxmlformats.org/officeDocument/2006/relationships/slide" Target="/ppt/slides/slide4.xml" Id="R60bd680b8f5c468c" /><Relationship Type="http://schemas.openxmlformats.org/officeDocument/2006/relationships/slide" Target="/ppt/slides/slide5.xml" Id="R940ad0c1d22d43eb" /><Relationship Type="http://schemas.openxmlformats.org/officeDocument/2006/relationships/slide" Target="/ppt/slides/slide6.xml" Id="Re95f5ff4ced44d4a" /><Relationship Type="http://schemas.openxmlformats.org/officeDocument/2006/relationships/slide" Target="/ppt/slides/slide7.xml" Id="Ra6de2ae4d9aa4c16" /><Relationship Type="http://schemas.openxmlformats.org/officeDocument/2006/relationships/slide" Target="/ppt/slides/slide8.xml" Id="R6883d43c58de428f" /><Relationship Type="http://schemas.openxmlformats.org/officeDocument/2006/relationships/slide" Target="/ppt/slides/slide9.xml" Id="Rd33de0241f0a4afd" /><Relationship Type="http://schemas.openxmlformats.org/officeDocument/2006/relationships/slide" Target="/ppt/slides/slide10.xml" Id="R989d741ee5014707" /><Relationship Type="http://schemas.openxmlformats.org/officeDocument/2006/relationships/slide" Target="/ppt/slides/slide11.xml" Id="Re8abb07f9c7148fe" /><Relationship Type="http://schemas.openxmlformats.org/officeDocument/2006/relationships/slide" Target="/ppt/slides/slide12.xml" Id="Rda3af90735184799" /><Relationship Type="http://schemas.openxmlformats.org/officeDocument/2006/relationships/slide" Target="/ppt/slides/slide13.xml" Id="R9b01be70fff14a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e0a9c4159a41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e4b31a99d14c8d" /><Relationship Type="http://schemas.openxmlformats.org/officeDocument/2006/relationships/notesMaster" Target="/ppt/notesMasters/notesMaster1.xml" Id="R8a2f84d339624f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823be88e9d4ca1" /><Relationship Type="http://schemas.openxmlformats.org/officeDocument/2006/relationships/notesMaster" Target="/ppt/notesMasters/notesMaster1.xml" Id="R8b1361eee45b44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9a7bf855584f99" /><Relationship Type="http://schemas.openxmlformats.org/officeDocument/2006/relationships/notesMaster" Target="/ppt/notesMasters/notesMaster1.xml" Id="Rfc2b2644fdb84d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78ce0762ad44a5" /><Relationship Type="http://schemas.openxmlformats.org/officeDocument/2006/relationships/notesMaster" Target="/ppt/notesMasters/notesMaster1.xml" Id="R5998f1fdb1014d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01ed0c5daa435a" /><Relationship Type="http://schemas.openxmlformats.org/officeDocument/2006/relationships/notesMaster" Target="/ppt/notesMasters/notesMaster1.xml" Id="R9db251d252b94f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13573667614185" /><Relationship Type="http://schemas.openxmlformats.org/officeDocument/2006/relationships/notesMaster" Target="/ppt/notesMasters/notesMaster1.xml" Id="R7c25a2d14df04c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7fd4cf7aff4678" /><Relationship Type="http://schemas.openxmlformats.org/officeDocument/2006/relationships/notesMaster" Target="/ppt/notesMasters/notesMaster1.xml" Id="R87a0d87d902142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447cf393224fcb" /><Relationship Type="http://schemas.openxmlformats.org/officeDocument/2006/relationships/notesMaster" Target="/ppt/notesMasters/notesMaster1.xml" Id="R966b694c5fd84f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eacab8ae9d42aa" /><Relationship Type="http://schemas.openxmlformats.org/officeDocument/2006/relationships/notesMaster" Target="/ppt/notesMasters/notesMaster1.xml" Id="R0778c227817142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8bc19498954664" /><Relationship Type="http://schemas.openxmlformats.org/officeDocument/2006/relationships/notesMaster" Target="/ppt/notesMasters/notesMaster1.xml" Id="Rff6fd0ec0bd546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38c744be6648aa" /><Relationship Type="http://schemas.openxmlformats.org/officeDocument/2006/relationships/notesMaster" Target="/ppt/notesMasters/notesMaster1.xml" Id="R81ed7cdee9a34f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821061dd734609" /><Relationship Type="http://schemas.openxmlformats.org/officeDocument/2006/relationships/notesMaster" Target="/ppt/notesMasters/notesMaster1.xml" Id="R02881bda827549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6e29d610da4a02" /><Relationship Type="http://schemas.openxmlformats.org/officeDocument/2006/relationships/notesMaster" Target="/ppt/notesMasters/notesMaster1.xml" Id="Redacd186334d48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Пів року тому компанія підняла ціну на 42.9%, бо тест показав, що конверсія не впала. CEO не бачить цих відсотків у виручці. Я перевірив повний ланцюжок: конверсію, LTV, фактичний Revenue і окупність реклами. Коротка відповідь: гроші серед спостережених платників виросли, але в рази слабше за обіцянку — LTV лише +2.5% — а в Європі спостережена 9.99-когорта має нижчий LTV.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Контекст: рішення ухвалили за однією метрикою — конверсією. Одночасно три команди скаржаться на симптоми. Моє завдання — перевірити рішення по всьому ланцюжку грошей.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Якщо запам'ятати один слайд — цей. Серед спостережених платників дохід за 49 днів виріс лише на 2.5% замість 42.9%. За моделлю отримали близько 19% очікуваного приросту: приблизно 107 тисяч із 568 тисяч. У EU клієнти на 9.99 принесли на 2.3% менше. Технічна перевірка: оцінка грошей стійка в діапазоні 93–109 тисяч; 95% CI різниці LTV у EU [−0.71; −0.09], але rollout не доводить причинність.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Чотири проблеми даних знайдено і виправлено. Видалено 1 131 дубль, виключено два некоректні дні, валідне вікно — 11–24 січня. Tier1 не отримав нову ціну і став випадковим A/A-контролем. Технічна перевірка Tier1: конверсія p=0.78, доплата p=0.93, CPC −1.9%; це не повний доказ якості всієї системи, але системного збою не видно.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керівництва на слайді залишено лише масштаб зміни. Технічні результати: EU p=0.342, 95% CI [−0.58; +0.20] п.п.; USA p=0.043, 95% CI [−1.00; −0.02] п.п. Це слабкий сигнал малого падіння, який не проходить поправку на множинні порівняння. p-value показує, наскільки незвичні дані за припущення відсутності різниці; він не доводить рівність. Формальний non-inferiority висновок неможливий без наперед заданої межі.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Доплата $15 показується лише після основної покупки. У EU частка покупців доплати впала з 24.6% до 16.8%: −7.8 п.п., або −32% відносно; p&lt;0.0001, 95% CI [−10.7; −4.9] п.п. У USA напрямок теж негативний, але статистично невпевнений. Tier1, де ціна не змінилась, залишився практично без змін.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П'ята частина доходу з платника — фіксована доплата $15, яка не змінюється разом із ціною підписки. Тому чиста арифметика дає максимум 42.9% × 79% = 33.9%, тобто близько 34%, ще до будь-яких змін поведінки. Саме тому початкове очікування +42.9% для всього доходу було завищеним.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Очікуваний дохід на 9.99 був $24.71, фактичний — $17.72. Найбільша втрата — рідші повторні платежі: −$4.08 на платника. Повернення коштів дали −$0.40. Попередній напис «у 8 разів менше» був помилковим: 4.08 / 0.40 = 10.2, тому на слайді тепер сказано «у 10 разів менше». Інші втрати: фіксована доплата $15 −$1.53, менша частота доплати −$0.94, спірні платежі −$0.04.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 другого платежу доходить 49% клієнтів на 6.99 і 31% на 9.99. Розрив 16–20 п.п. повторюється в усіх тижневих когортах. Це головний внесок у різницю LTV, але дані rollout є спостережними і самі по собі не доводять, що причиною була лише ціна.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 EU серед спостережених платників LTV 9.99-когорти нижчий на 2.3%, або на $0.40 за 49 днів; 95% CI [−0.71; −0.09]. У USA різниця +16.3%, в Other +13.5%. Це той самий регіон, де у рандомізованому A/B впала доплата $15. Rollout-LTV дає узгоджений, але не причинний сигнал.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Повна календарна каса за вікно звірена окремо. Для порівняння цін використана базова когорта стартів 26.01–09.03, де кожен клієнт фізично міг зробити перший платіж до 16.03. Модельна оцінка: +$106,970 проти сценарію 6.99; чутливість до меж когорти +$93–109 тис. Очікування +42.9% означало б +$568 тис., тому недобір — $461 тис. Важливе обмеження: order_data містить лише платників, тож конверсія з тріалу в перший платіж за цінами невідома, і повний ефект на весь трафік може бути нижчим.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ROAS49 = LTV49 / CAC: скільки доларів цінності повертає $1 реклами. EU: 1.39 → 1.20, тобто −13.6%; USA: 1.97 → 1.95, практично без змін. Google EU: на 6.99 CAC $19.38 і регіональний LTV $17.11, тому 17.11 / 19.38 = 0.88; на 9.99 CAC $18.73 і LTV $16.71, тому 16.71 / 18.73 = 0.89. Це сигнал для аудиту, не доказ збитковості: канального LTV немає, використано середній LTV регіону. Регіональна оцінка також оптимістична, бо вартість залучення порахована на оформлення тріалу, а LTV — на платниках.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Рішення по регіонах. EU: відкотити 9.99 або протестувати проміжну ціну; конкретний рівень 7.99 — лише гіпотеза для тесту. USA: залишити 9.99, але підтвердити результат тестом повної економіки. Tier1: провести коректний тест, бо у початковому A/B нову ціну не доставили. У наступних тестах одночасно контролювати покупку, доплату $15, повторні платежі, повернення коштів і вартість реклами.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2373ac9bf43a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679b05b3d14399" /><Relationship Type="http://schemas.openxmlformats.org/officeDocument/2006/relationships/slideLayout" Target="/ppt/slideLayouts/slideLayout1.xml" Id="R8eaa8fb40f5745d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aa8fb40f5745d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cf2c9a56a4523" /><Relationship Type="http://schemas.openxmlformats.org/officeDocument/2006/relationships/notesSlide" Target="/ppt/notesSlides/notesSlide1.xml" Id="R9edae5d70e4d4d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e35660f114593" /><Relationship Type="http://schemas.openxmlformats.org/officeDocument/2006/relationships/notesSlide" Target="/ppt/notesSlides/notesSlide2.xml" Id="R3b7e8983a88d46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9dd9261484ac5" /><Relationship Type="http://schemas.openxmlformats.org/officeDocument/2006/relationships/notesSlide" Target="/ppt/notesSlides/notesSlide3.xml" Id="R782c340eb65c43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da7f6168c45f1" /><Relationship Type="http://schemas.openxmlformats.org/officeDocument/2006/relationships/notesSlide" Target="/ppt/notesSlides/notesSlide4.xml" Id="R57a4b5b5ecc74a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43bd027fa4b0a" /><Relationship Type="http://schemas.openxmlformats.org/officeDocument/2006/relationships/notesSlide" Target="/ppt/notesSlides/notesSlide5.xml" Id="R13890003370142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b502496ed43a6" /><Relationship Type="http://schemas.openxmlformats.org/officeDocument/2006/relationships/notesSlide" Target="/ppt/notesSlides/notesSlide6.xml" Id="R78b0e5c5b2f44d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7671d9fb64b61" /><Relationship Type="http://schemas.openxmlformats.org/officeDocument/2006/relationships/notesSlide" Target="/ppt/notesSlides/notesSlide7.xml" Id="R73c8bea123924d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fa2ff91af4bf2" /><Relationship Type="http://schemas.openxmlformats.org/officeDocument/2006/relationships/chart" Target="/ppt/slides/charts/chart1.xml" Id="Rf6a4065bb9294cdb" /><Relationship Type="http://schemas.openxmlformats.org/officeDocument/2006/relationships/notesSlide" Target="/ppt/notesSlides/notesSlide8.xml" Id="R9bc8eb6e27024d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59f18de55489b" /><Relationship Type="http://schemas.openxmlformats.org/officeDocument/2006/relationships/image" Target="/ppt/media/image.png" Id="R2a1a541b080a422b" /><Relationship Type="http://schemas.openxmlformats.org/officeDocument/2006/relationships/notesSlide" Target="/ppt/notesSlides/notesSlide9.xml" Id="Redb2e047784e49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777f74ecf4fd6" /><Relationship Type="http://schemas.openxmlformats.org/officeDocument/2006/relationships/chart" Target="/ppt/slides/charts/chart2.xml" Id="Ra7559a12d9d44ffa" /><Relationship Type="http://schemas.openxmlformats.org/officeDocument/2006/relationships/notesSlide" Target="/ppt/notesSlides/notesSlide10.xml" Id="R9ed586b1bdc54d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223c04d164b7a" /><Relationship Type="http://schemas.openxmlformats.org/officeDocument/2006/relationships/chart" Target="/ppt/slides/charts/chart3.xml" Id="R9c9035aa39a94646" /><Relationship Type="http://schemas.openxmlformats.org/officeDocument/2006/relationships/notesSlide" Target="/ppt/notesSlides/notesSlide11.xml" Id="Rc7e114cf077042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ef0ddab0c4984" /><Relationship Type="http://schemas.openxmlformats.org/officeDocument/2006/relationships/chart" Target="/ppt/slides/charts/chart4.xml" Id="Ra5e6d63e044e4dd9" /><Relationship Type="http://schemas.openxmlformats.org/officeDocument/2006/relationships/notesSlide" Target="/ppt/notesSlides/notesSlide12.xml" Id="R5bad58c01d034a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5d4f3af104c4d" /><Relationship Type="http://schemas.openxmlformats.org/officeDocument/2006/relationships/notesSlide" Target="/ppt/notesSlides/notesSlide13.xml" Id="R789de60763394d5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Основа</c:v>
          </c:tx>
          <c:spPr>
            <a:solidFill xmlns:a="http://schemas.openxmlformats.org/drawingml/2006/main">
              <a:srgbClr val="FFFFFF"/>
            </a:solidFill>
            <a:ln xmlns:a="http://schemas.openxmlformats.org/drawingml/2006/main" w="0">
              <a:noFill/>
              <a:prstDash val="solid"/>
            </a:ln>
          </c:spPr>
          <c:cat>
            <c:strLit>
              <c:ptCount val="7"/>
              <c:pt idx="0">
                <c:v>Очікування</c:v>
              </c:pt>
              <c:pt idx="1">
                <c:v>Продовження</c:v>
              </c:pt>
              <c:pt idx="2">
                <c:v>$15: ціна</c:v>
              </c:pt>
              <c:pt idx="3">
                <c:v>$15: частота</c:v>
              </c:pt>
              <c:pt idx="4">
                <c:v>Повернення</c:v>
              </c:pt>
              <c:pt idx="5">
                <c:v>Спірні</c:v>
              </c:pt>
              <c:pt idx="6">
                <c:v>Факт</c:v>
              </c:pt>
            </c:strLit>
          </c:cat>
          <c:val>
            <c:numLit>
              <c:formatCode>General</c:formatCode>
              <c:ptCount val="7"/>
              <c:pt idx="0">
                <c:v>0</c:v>
              </c:pt>
              <c:pt idx="1">
                <c:v>20.63</c:v>
              </c:pt>
              <c:pt idx="2">
                <c:v>19.1</c:v>
              </c:pt>
              <c:pt idx="3">
                <c:v>18.16</c:v>
              </c:pt>
              <c:pt idx="4">
                <c:v>17.76</c:v>
              </c:pt>
              <c:pt idx="5">
                <c:v>17.72</c:v>
              </c:pt>
              <c:pt idx="6">
                <c:v>0</c:v>
              </c:pt>
            </c:numLit>
          </c:val>
        </c:ser>
        <c:ser>
          <c:idx val="1"/>
          <c:order val="1"/>
          <c:tx>
            <c:v>Зміна</c:v>
          </c:tx>
          <c:spPr>
            <a:solidFill xmlns:a="http://schemas.openxmlformats.org/drawingml/2006/main">
              <a:srgbClr val="D55E00"/>
            </a:solidFill>
          </c:spPr>
          <c:dPt>
            <c:idx val="0"/>
            <c:spPr>
              <a:solidFill xmlns:a="http://schemas.openxmlformats.org/drawingml/2006/main">
                <a:srgbClr val="9E9E9E"/>
              </a:solidFill>
            </c:spPr>
          </c:dPt>
          <c:dPt>
            <c:idx val="1"/>
            <c:spPr>
              <a:solidFill xmlns:a="http://schemas.openxmlformats.org/drawingml/2006/main">
                <a:srgbClr val="D55E00"/>
              </a:solidFill>
            </c:spPr>
          </c:dPt>
          <c:dPt>
            <c:idx val="2"/>
            <c:spPr>
              <a:solidFill xmlns:a="http://schemas.openxmlformats.org/drawingml/2006/main">
                <a:srgbClr val="D55E00"/>
              </a:solidFill>
            </c:spPr>
          </c:dPt>
          <c:dPt>
            <c:idx val="3"/>
            <c:spPr>
              <a:solidFill xmlns:a="http://schemas.openxmlformats.org/drawingml/2006/main">
                <a:srgbClr val="D55E00"/>
              </a:solidFill>
            </c:spPr>
          </c:dPt>
          <c:dPt>
            <c:idx val="4"/>
            <c:spPr>
              <a:solidFill xmlns:a="http://schemas.openxmlformats.org/drawingml/2006/main">
                <a:srgbClr val="D55E00"/>
              </a:solidFill>
            </c:spPr>
          </c:dPt>
          <c:dPt>
            <c:idx val="5"/>
            <c:spPr>
              <a:solidFill xmlns:a="http://schemas.openxmlformats.org/drawingml/2006/main">
                <a:srgbClr val="D55E00"/>
              </a:solidFill>
            </c:spPr>
          </c:dPt>
          <c:dPt>
            <c:idx val="6"/>
            <c:spPr>
              <a:solidFill xmlns:a="http://schemas.openxmlformats.org/drawingml/2006/main">
                <a:srgbClr val="E69F00"/>
              </a:solidFill>
            </c:spPr>
          </c:dPt>
          <c:cat>
            <c:strLit>
              <c:ptCount val="7"/>
              <c:pt idx="0">
                <c:v>Очікування</c:v>
              </c:pt>
              <c:pt idx="1">
                <c:v>Продовження</c:v>
              </c:pt>
              <c:pt idx="2">
                <c:v>$15: ціна</c:v>
              </c:pt>
              <c:pt idx="3">
                <c:v>$15: частота</c:v>
              </c:pt>
              <c:pt idx="4">
                <c:v>Повернення</c:v>
              </c:pt>
              <c:pt idx="5">
                <c:v>Спірні</c:v>
              </c:pt>
              <c:pt idx="6">
                <c:v>Факт</c:v>
              </c:pt>
            </c:strLit>
          </c:cat>
          <c:val>
            <c:numLit>
              <c:formatCode>General</c:formatCode>
              <c:ptCount val="7"/>
              <c:pt idx="0">
                <c:v>24.71</c:v>
              </c:pt>
              <c:pt idx="1">
                <c:v>4.08</c:v>
              </c:pt>
              <c:pt idx="2">
                <c:v>1.53</c:v>
              </c:pt>
              <c:pt idx="3">
                <c:v>0.94</c:v>
              </c:pt>
              <c:pt idx="4">
                <c:v>0.4</c:v>
              </c:pt>
              <c:pt idx="5">
                <c:v>0.04</c:v>
              </c:pt>
              <c:pt idx="6">
                <c:v>17.72</c:v>
              </c:pt>
            </c:numLit>
          </c:val>
        </c:ser>
        <c:dLbls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7"/>
          <c:min val="0"/>
        </c:scaling>
        <c:delete val="0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6.99</c:v>
          </c:tx>
          <c:spPr>
            <a:solidFill xmlns:a="http://schemas.openxmlformats.org/drawingml/2006/main">
              <a:srgbClr val="0072B2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25" b="1">
                    <a:solidFill>
                      <a:srgbClr val="27313C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EU</c:v>
              </c:pt>
              <c:pt idx="1">
                <c:v>Інші ринки</c:v>
              </c:pt>
              <c:pt idx="2">
                <c:v>USA</c:v>
              </c:pt>
            </c:strLit>
          </c:cat>
          <c:val>
            <c:numLit>
              <c:formatCode>\$0.00</c:formatCode>
              <c:ptCount val="3"/>
              <c:pt idx="0">
                <c:v>17.11</c:v>
              </c:pt>
              <c:pt idx="1">
                <c:v>19.1</c:v>
              </c:pt>
              <c:pt idx="2">
                <c:v>17.37</c:v>
              </c:pt>
            </c:numLit>
          </c:val>
        </c:ser>
        <c:ser>
          <c:idx val="1"/>
          <c:order val="1"/>
          <c:tx>
            <c:v>9.99</c:v>
          </c:tx>
          <c:spPr>
            <a:solidFill xmlns:a="http://schemas.openxmlformats.org/drawingml/2006/main">
              <a:srgbClr val="E69F00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25" b="1">
                    <a:solidFill>
                      <a:srgbClr val="27313C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EU</c:v>
              </c:pt>
              <c:pt idx="1">
                <c:v>Інші ринки</c:v>
              </c:pt>
              <c:pt idx="2">
                <c:v>USA</c:v>
              </c:pt>
            </c:strLit>
          </c:cat>
          <c:val>
            <c:numLit>
              <c:formatCode>\$0.00</c:formatCode>
              <c:ptCount val="3"/>
              <c:pt idx="0">
                <c:v>16.71</c:v>
              </c:pt>
              <c:pt idx="1">
                <c:v>21.68</c:v>
              </c:pt>
              <c:pt idx="2">
                <c:v>20.2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2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27313C"/>
                    </a:solidFill>
                  </a:rPr>
                  <a:t> 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27313C"/>
                  </a:solidFill>
                </a:defRPr>
              </a:pPr>
            </a:p>
          </c:txPr>
        </c:title>
        <c:numFmt formatCode="\$0.00" sourceLinked="1"/>
        <c:majorTickMark val="none"/>
        <c:minorTickMark val="none"/>
        <c:tickLblPos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77777"/>
                </a:solidFill>
              </a:defRPr>
            </a:pPr>
          </a:p>
        </c:txPr>
        <c:crossAx val="48650112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27313C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Виручка</c:v>
          </c:tx>
          <c:spPr>
            <a:solidFill xmlns:a="http://schemas.openxmlformats.org/drawingml/2006/main">
              <a:srgbClr val="0072B2"/>
            </a:solidFill>
          </c:spPr>
          <c:dPt>
            <c:idx val="0"/>
            <c:spPr>
              <a:solidFill xmlns:a="http://schemas.openxmlformats.org/drawingml/2006/main">
                <a:srgbClr val="0072B2"/>
              </a:solidFill>
            </c:spPr>
          </c:dPt>
          <c:dPt>
            <c:idx val="1"/>
            <c:spPr>
              <a:solidFill xmlns:a="http://schemas.openxmlformats.org/drawingml/2006/main">
                <a:srgbClr val="E69F00"/>
              </a:solidFill>
            </c:spPr>
          </c:dPt>
          <c:dPt>
            <c:idx val="2"/>
            <c:spPr>
              <a:solidFill xmlns:a="http://schemas.openxmlformats.org/drawingml/2006/main">
                <a:srgbClr val="BDBDBD"/>
              </a:solidFill>
            </c:spPr>
          </c:dPt>
          <c:cat>
            <c:strLit>
              <c:ptCount val="3"/>
              <c:pt idx="0">
                <c:v>Без підвищення
(6.99)</c:v>
              </c:pt>
              <c:pt idx="1">
                <c:v>Факт
(9.99)</c:v>
              </c:pt>
              <c:pt idx="2">
                <c:v>Очікування
(+42.9%)</c:v>
              </c:pt>
            </c:strLit>
          </c:cat>
          <c:val>
            <c:numLit>
              <c:formatCode>0.0</c:formatCode>
              <c:ptCount val="3"/>
              <c:pt idx="0">
                <c:v>1.32</c:v>
              </c:pt>
              <c:pt idx="1">
                <c:v>1.43</c:v>
              </c:pt>
              <c:pt idx="2">
                <c:v>1.89</c:v>
              </c:pt>
            </c:numLit>
          </c:val>
        </c:ser>
        <c:dLbls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3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>
                    <a:solidFill>
                      <a:srgbClr val="666666"/>
                    </a:solidFill>
                  </a:rPr>
                  <a:t>Виручка за 7 тижнів, $M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666666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7777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6.99</c:v>
          </c:tx>
          <c:spPr>
            <a:solidFill xmlns:a="http://schemas.openxmlformats.org/drawingml/2006/main">
              <a:srgbClr val="0072B2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25" b="1">
                    <a:solidFill>
                      <a:srgbClr val="27313C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EU</c:v>
              </c:pt>
              <c:pt idx="1">
                <c:v>USA</c:v>
              </c:pt>
              <c:pt idx="2">
                <c:v>Tier1</c:v>
              </c:pt>
            </c:strLit>
          </c:cat>
          <c:val>
            <c:numLit>
              <c:formatCode>0.00</c:formatCode>
              <c:ptCount val="3"/>
              <c:pt idx="0">
                <c:v>1.39</c:v>
              </c:pt>
              <c:pt idx="1">
                <c:v>1.97</c:v>
              </c:pt>
              <c:pt idx="2">
                <c:v>1.77</c:v>
              </c:pt>
            </c:numLit>
          </c:val>
        </c:ser>
        <c:ser>
          <c:idx val="1"/>
          <c:order val="1"/>
          <c:tx>
            <c:v>9.99</c:v>
          </c:tx>
          <c:spPr>
            <a:solidFill xmlns:a="http://schemas.openxmlformats.org/drawingml/2006/main">
              <a:srgbClr val="E69F00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825" b="1">
                    <a:solidFill>
                      <a:srgbClr val="27313C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EU</c:v>
              </c:pt>
              <c:pt idx="1">
                <c:v>USA</c:v>
              </c:pt>
              <c:pt idx="2">
                <c:v>Tier1</c:v>
              </c:pt>
            </c:strLit>
          </c:cat>
          <c:val>
            <c:numLit>
              <c:formatCode>0.00</c:formatCode>
              <c:ptCount val="3"/>
              <c:pt idx="0">
                <c:v>1.2</c:v>
              </c:pt>
              <c:pt idx="1">
                <c:v>1.95</c:v>
              </c:pt>
              <c:pt idx="2">
                <c:v>1.86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27313C"/>
                    </a:solidFill>
                  </a:rPr>
                  <a:t> 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27313C"/>
                  </a:solidFill>
                </a:defRPr>
              </a:pPr>
            </a:p>
          </c:txPr>
        </c:title>
        <c:numFmt formatCode="0.00" sourceLinked="1"/>
        <c:majorTickMark val="none"/>
        <c:minorTickMark val="none"/>
        <c:tickLblPos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77777"/>
                </a:solidFill>
              </a:defRPr>
            </a:pPr>
          </a:p>
        </c:txPr>
        <c:crossAx val="48650112"/>
        <c:crosses val="autoZero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27313C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1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FB6C23-DBB0-40F6-A124-5E91E50F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749808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5200"/>
              </a:lnSpc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6.99 → 9.99:</a:t>
            </a:r>
          </a:p>
          <a:p xmlns:a="http://schemas.openxmlformats.org/drawingml/2006/main">
            <a:pPr marL="0" indent="0">
              <a:lnSpc>
                <a:spcPts val="5200"/>
              </a:lnSpc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що сталося насправді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F3A06A-4935-4F40-9655-906B5624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777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Перевірка рішення: покупка · дохід за 49 днів · виручка · реклама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ED6D61D-6408-4775-809F-640D9F17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2648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Олександр Непоп  ·  Genesis Analytics Camp 3.0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6744374-AA5A-4CFE-969E-4C152BBB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14884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обіцяли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A273AD9-0E47-43D0-984B-E7B298F5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468880"/>
            <a:ext cx="3017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44546A"/>
                </a:solidFill>
                <a:latin typeface="Calibri"/>
                <a:ea typeface="Calibri"/>
                <a:cs typeface="Calibri"/>
              </a:rPr>
              <a:t>+42.9%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C1FAA50-98A5-47EB-A67D-B8A7FF23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2044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отримали за 49 днів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ECFE88B-A376-4DFD-8D24-DC2A483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840480"/>
            <a:ext cx="30175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+2.5%</a:t>
            </a:r>
          </a:p>
        </p:txBody>
      </p:sp>
    </p:spTree>
    <p:extLst>
      <p:ext uri="{BB962C8B-B14F-4D97-AF65-F5344CB8AC3E}">
        <p14:creationId xmlns:p14="http://schemas.microsoft.com/office/powerpoint/2010/main" val="3377827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F188FE-6058-4F73-9898-95A2E680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92C277-04EF-41B2-8126-4B27F2C1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КОНТЕКСТ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5ED3B1F-8180-422E-A6CC-75E1DECF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сталося і про що питає CEO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E420A6-C72C-4B22-B0BA-5C766AAA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630936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Продукт: підписка на тренування, $6.99/тиждень, ринки USA / EU / Tier-1.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Пів року тому: A/B-тест 6.99 проти 9.99 → «покупка не впала» → ціну підняли.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Після тесту 9.99 увімкнули для 50% трафіку.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Сигнали команд: клієнти рідше продовжують підписку; більше повернень коштів; залучення подорожчало.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FEAD7A0-E6B1-46E0-9FB9-22D791C2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828800"/>
            <a:ext cx="4389120" cy="310896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FF6F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70FAA29-0A11-46A1-88B9-2E9250D1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148840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Питання CEO: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FC5E57A-A760-4995-8C62-FD43BFDD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606040"/>
            <a:ext cx="384048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«Ціна +42%, а виручка так не виросла.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Чи було рішення правильним?»</a:t>
            </a:r>
          </a:p>
        </p:txBody>
      </p:sp>
    </p:spTree>
    <p:extLst>
      <p:ext uri="{BB962C8B-B14F-4D97-AF65-F5344CB8AC3E}">
        <p14:creationId xmlns:p14="http://schemas.microsoft.com/office/powerpoint/2010/main" val="2590197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B4BA8CD-92FB-48FE-9F6E-74D1ED89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F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20439D-760C-4122-9A05-86792256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TL;DR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6E5C42F-5428-49E4-ABB3-E44D71A0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Три числа замість тисячі слів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D696166-206B-48EE-8CE6-6ED91853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DF6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81A673-FBE6-4AFA-9DB7-A9224150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4248"/>
            <a:ext cx="31089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+2.5%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0CD7F3-969B-4B30-BE51-7C23A096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00400"/>
            <a:ext cx="3108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за 49 днів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замість очікуваних +42.9%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F9161B1-4D99-4F44-ADB3-504C5C0A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FF6F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041A085-23E6-435B-B671-2511EFB7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4248"/>
            <a:ext cx="31089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19%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14D8749-F80B-4732-A71D-474C80B5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0400"/>
            <a:ext cx="3108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очікуваного приросту отримано: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+$107 тис. із +$568 тис.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BA9CE0E-6676-4955-A29F-0445B0C0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783080"/>
            <a:ext cx="3566160" cy="237744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BEEE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107CB4F-7C35-4C0B-BD9C-CD36A4B9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84248"/>
            <a:ext cx="31089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−2.3%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342BB20-4C24-4172-B437-CEC8F917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200400"/>
            <a:ext cx="3108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у EU нижчий: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−$0.40 за 49 днів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1171617-28F2-4A43-8F5B-CF24EEC8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Висновок: підвищення дало значно менше очікуваного, а результат суттєво відрізняється за регіонами. Рішення — різні ціни для різних ринків.</a:t>
            </a:r>
          </a:p>
        </p:txBody>
      </p:sp>
    </p:spTree>
    <p:extLst>
      <p:ext uri="{BB962C8B-B14F-4D97-AF65-F5344CB8AC3E}">
        <p14:creationId xmlns:p14="http://schemas.microsoft.com/office/powerpoint/2010/main" val="13081061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3B3D9E-A650-4154-BB81-AB4202B7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D6D0D5-79CB-40A0-B0F8-4E259962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ПЕРЕВІРКА ДАНИХ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860CD2-4710-41D4-8E32-9B59F229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Перед аналізом прибрали 4 проблеми в даних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826B535-C325-4134-8ABB-E61151B3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63F1A88-B18F-4596-B405-CF6E7C2E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234E029-D115-4DF2-8820-B1C2D14C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783080"/>
            <a:ext cx="5760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Видалили 1 131 дубльовану подію.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1B8288A-A9CF-4FCC-A917-820EDA1D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614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140F199-A6F1-4522-9BDB-7F21F5F4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6148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9D66B8C-9001-437D-9D85-EEF6C522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715768"/>
            <a:ext cx="5760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Виключили 9–10 січня: одна з груп відстежувалась некоректно.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D3FB1B8-922E-43FF-A03C-EB34AA86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9417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86278B1-0C43-4B3F-9D3C-4A66BFD5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94176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518C9C3-4B64-4F3D-8838-4EB58BA2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48456"/>
            <a:ext cx="5760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Для аналізу залишили коректне вікно 11–24 січня.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054F904-F6F5-4549-A0A0-269FBF3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2686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678B7A-D81B-4E20-B2D5-97380E0C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26864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A6A2563-90C1-41DD-A1EA-AA030C82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81144"/>
            <a:ext cx="57607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Tier1 не отримав ціну 9.99 — не використовуємо його для порівняння цін.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86CF47A-1B74-429C-99D6-26842C5C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783080"/>
            <a:ext cx="4206240" cy="36576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2F4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6BC58C-B007-4C34-87C4-CB8E6B51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011680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це означає для рішення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11BDDF3-A7C4-4EF6-8603-357F06B8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697480"/>
            <a:ext cx="365760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Дані EU та USA придатні для порівняння цін.</a:t>
            </a:r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Tier1 використовуємо лише як контроль якості.</a:t>
            </a:r>
          </a:p>
          <a:p xmlns:a="http://schemas.openxmlformats.org/drawingml/2006/main"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Інших системних збоїв не виявили.</a:t>
            </a:r>
          </a:p>
        </p:txBody>
      </p:sp>
    </p:spTree>
    <p:extLst>
      <p:ext uri="{BB962C8B-B14F-4D97-AF65-F5344CB8AC3E}">
        <p14:creationId xmlns:p14="http://schemas.microsoft.com/office/powerpoint/2010/main" val="11333232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6995588-846C-47E7-A87E-76C80ECC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14E5BD-EDA1-4554-94EB-F901DA0D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1 · КОНВЕРСІЯ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05780D1-4DC3-4B8C-B489-CF256D20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Покупка: нова ціна майже не змінила конверсію</a:t>
            </a:r>
          </a:p>
        </p:txBody>
      </p:sp>
      <p:graphicFrame>
        <p:nvGraphicFramePr>
          <p:cNvPr id="13" name="Table 0"/>
          <p:cNvGraphicFramePr/>
          <p:nvPr/>
        </p:nvGraphicFramePr>
        <p:xfrm>
          <a:off xmlns:a="http://schemas.openxmlformats.org/drawingml/2006/main" x="548640" y="1920240"/>
          <a:ext xmlns:a="http://schemas.openxmlformats.org/drawingml/2006/main" cx="658368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Регіон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Ціна 6.99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Ціна 9.99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Зміна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5.40%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−0.19 п.п.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7.48%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6.97%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−0.51 п.п.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Tier1</a:t>
                      </a:r>
                    </a:p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(обидві 6.99)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6.80%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6.94%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+0.13 п.п.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6428157B-F764-40FE-9AEA-2DF11025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920240"/>
            <a:ext cx="4023360" cy="237744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FF6F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7AE2F46-2AF8-4F26-8C41-6C0DBC34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103120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4CD8EAB-A236-45B0-9AD4-335FF22D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9271" y="1965960"/>
            <a:ext cx="3529289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Найбільше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падіння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— у США: 7.48% → 6.97%.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Але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компанія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перевірила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лише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покупку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весь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клієнта</a:t>
            </a:r>
            <a:r>
              <a:rPr sz="16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35636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20611C-F479-4B46-9F79-93ACD80B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EE3DA6-51D0-48F8-90A5-C01F0070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1 · ДОДАТКОВИЙ ДОХІД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D3BCF5-A60E-448E-9A94-EE2A1CF2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У EU доплату $15 стали купувати на 32% рідше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A852DD-0639-424C-83FF-2277106C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374904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−32%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8ED62A3-12A6-4E72-A508-72062DEA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40233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Серед покупців у EU частка доплати $15 знизилась: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24.6% → 16.8%</a:t>
            </a:r>
          </a:p>
        </p:txBody>
      </p:sp>
      <p:graphicFrame>
        <p:nvGraphicFramePr>
          <p:cNvPr id="15" name="Table 0"/>
          <p:cNvGraphicFramePr/>
          <p:nvPr/>
        </p:nvGraphicFramePr>
        <p:xfrm>
          <a:off xmlns:a="http://schemas.openxmlformats.org/drawingml/2006/main" x="4846320" y="1874520"/>
          <a:ext xmlns:a="http://schemas.openxmlformats.org/drawingml/2006/main" cx="676656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1691640"/>
                <a:gridCol w="1691640"/>
                <a:gridCol w="1691640"/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Регіон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9.99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Зміна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24.6%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16.8%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−32%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19.6%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17.6%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−10%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Tier1</a:t>
                      </a:r>
                    </a:p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(обидві 6.99)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30.6%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30.3%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−1%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68FCD46-844F-49CD-9C2F-73A73F2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Компанія перевірила покупку, але пропустила падіння додаткового доходу.</a:t>
            </a:r>
          </a:p>
        </p:txBody>
      </p:sp>
    </p:spTree>
    <p:extLst>
      <p:ext uri="{BB962C8B-B14F-4D97-AF65-F5344CB8AC3E}">
        <p14:creationId xmlns:p14="http://schemas.microsoft.com/office/powerpoint/2010/main" val="13298736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A7DE8C1-4017-4602-8847-B75B9050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7A1E33-6630-46CB-AEFB-3C98AF22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ЧОМУ +42.9% БУЛИ НЕМОЖЛИВІ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E9EC751-18E1-41A2-8AEF-33CED864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Підняли ціну лише частині виручки — а чекали ріст від усієї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F1F3261-83C3-4C2A-AB42-E3DFE633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7452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Структура доходу з платника на ціні 6.99: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B949433-6CAC-454A-904C-A412E9C2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577900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085400B-79A0-4E1F-AFD5-2ECD0637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286000"/>
            <a:ext cx="1563624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9F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C690F7-080A-47DC-94BF-10A88933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95728"/>
            <a:ext cx="5394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підписка · 79%</a:t>
            </a:r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зросла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384443D-C3AB-4AE2-B2CB-556CE017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395728"/>
            <a:ext cx="14173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доплата $15 · 21%</a:t>
            </a:r>
          </a:p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не змінилась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3681202-EE70-4EAF-AFC0-3472726C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6858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Отже, навіть без змін поведінки максимальний ріст: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44AE8BA-D14D-424F-89EC-32ECCEEF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42.9% × 79% = 33.9%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4331881-C675-4A11-9DAB-C3CDCE4B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794760"/>
            <a:ext cx="23774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+34%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8A9B67F-E609-4C21-8180-223FA6DA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977640"/>
            <a:ext cx="20116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максимум за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незмінної поведінки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E3A1880-152B-4E01-9DDD-CADDC960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011680"/>
            <a:ext cx="3063240" cy="146304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BEEE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9D5B7A3-7B8A-478B-B276-FDC3DF93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148840"/>
            <a:ext cx="26517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Очікування +42.9% було завищеним: доплата $15 не зростає разом із ціною підписки.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24DF4A0-8BFC-4E17-B016-D98F4A3B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1208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Ще до падіння доплат і повторних платежів реалістична межа була близько +34%.</a:t>
            </a:r>
          </a:p>
        </p:txBody>
      </p:sp>
    </p:spTree>
    <p:extLst>
      <p:ext uri="{BB962C8B-B14F-4D97-AF65-F5344CB8AC3E}">
        <p14:creationId xmlns:p14="http://schemas.microsoft.com/office/powerpoint/2010/main" val="8219768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27235B0-B841-4676-AA92-585211AD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F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9B421D-EC99-459B-98B5-22CE4A13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ЗАВДАННЯ 2 · ДОХІД З ПЛАТНИКА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B79ACE9-4693-44FF-A155-C75CCF62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за 49 днів: +2.5% замість +42.9%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DB3981A6-5C92-4716-A9B1-0C37B4C9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828800"/>
            <a:ext cx="2834640" cy="329184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2F4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39C8002-9C94-4AEA-A4E3-A4994BDE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01168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з'їло очікуваний ріст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9A4AC8F-27D2-4E08-A8C7-0A0B9D3A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560320"/>
            <a:ext cx="246888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Рідше продовжують  −$4.08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Доплата $15 не зросла  −$1.53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Менше доплат $15  −$0.94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Повернення коштів  −$0.40</a:t>
            </a:r>
          </a:p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Спірні платежі  −$0.04</a:t>
            </a:r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Головна втрата — повторні платежі. Повернення вплинули у 10 разів менше.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7524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a4065bb9294cd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6E7B7C-4780-4BB8-AC42-FE4EBEB2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$24.71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09D0D-84DC-4FFC-8365-C31AFC20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−$4.08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5663F1-1643-4C71-AF73-8DCB8CF7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383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−$1.53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96551-C378-4E29-9F70-3E09C576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288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−$0.94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C55279-5058-4FFA-9AFE-5DC13F1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5336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−$0.40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8FCE9-BD27-4FEF-BB94-DAF28968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908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−$0.04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5D400F-E0DC-4D69-A4A1-10C6445B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241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$17.72</a:t>
            </a:r>
          </a:p>
        </p:txBody>
      </p:sp>
    </p:spTree>
    <p:extLst>
      <p:ext uri="{BB962C8B-B14F-4D97-AF65-F5344CB8AC3E}">
        <p14:creationId xmlns:p14="http://schemas.microsoft.com/office/powerpoint/2010/main" val="106030502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29180C5-56F1-4C0D-9CED-484698BF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599FC5-77EA-4658-838E-87F6233A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2 · ПОВТОРНІ ПЛАТЕЖІ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6B38DE7-E2F0-47C6-8386-EDE7C409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На 9.99 клієнти рідше роблять повторні платежі</a:t>
            </a:r>
          </a:p>
        </p:txBody>
      </p:sp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a541b080a42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645920"/>
            <a:ext cx="7315200" cy="373989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29D0572-D5EF-41A1-8D70-829FBC1A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811102"/>
            <a:ext cx="35661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49% vs 31%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6751E81-DA17-480E-86DF-4D63DC43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22871"/>
            <a:ext cx="3474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до другого платежу доходять</a:t>
            </a:r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на 6.99 та 9.99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E05B1EC-9859-4FA3-BE23-69050C9A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83280"/>
            <a:ext cx="34747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3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Різниця повторюється щотижня.</a:t>
            </a:r>
          </a:p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Це головна причина, чому дохід виріс лише на 2.5%.</a:t>
            </a:r>
          </a:p>
        </p:txBody>
      </p:sp>
    </p:spTree>
    <p:extLst>
      <p:ext uri="{BB962C8B-B14F-4D97-AF65-F5344CB8AC3E}">
        <p14:creationId xmlns:p14="http://schemas.microsoft.com/office/powerpoint/2010/main" val="130114752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2775066-0274-47D5-B2CF-E523E2FB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A14749-73E8-479B-8013-0501708D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2 · СЕГМЕНТИ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83027F5-192F-4575-9A79-D9C0203A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Зниження доходу з платника — лише в EU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0D82ED2-EF9C-43B0-BB39-B3D02D1E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20240"/>
            <a:ext cx="35661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EU −2.3%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78D27D8-9863-4EB2-8126-4E9E648E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34747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У EU клієнт на 9.99 приніс у середньому на $0.40 менше за 49 днів. У США та інших ринках — більше.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D7C96EA-7FA5-482D-ADAD-B1CA1478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57600"/>
            <a:ext cx="34747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USA  +16.3%</a:t>
            </a:r>
          </a:p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Інші ринки  +13.5%</a:t>
            </a:r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У EU також впала доплата $15 — тому ціну варто переглядати саме тут.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559a12d9d44ffa"/>
          </a:graphicData>
        </a:graphic>
      </p:graphicFrame>
    </p:spTree>
    <p:extLst>
      <p:ext uri="{BB962C8B-B14F-4D97-AF65-F5344CB8AC3E}">
        <p14:creationId xmlns:p14="http://schemas.microsoft.com/office/powerpoint/2010/main" val="14911870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386A58E-1457-403E-AAED-21B9A0CE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E5BF0A-6BA9-465D-8019-14083FCB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3 · ГРОШІ ЗА 26.01–16.03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733785E-2DC0-4BEF-AFAF-4B783D22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За моделлю перехід на 9.99 додав $107 тис.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E61F2D9-1F92-4024-A1AF-CC4D8D86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828800"/>
            <a:ext cx="365760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+$107 тис.</a:t>
            </a:r>
          </a:p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2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додатково проти сценарію «залишили ціну 6.99»</a:t>
            </a:r>
          </a:p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−$461 тис.</a:t>
            </a:r>
          </a:p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2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не отримали порівняно з очікуванням +42.9%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У розрахунку лише платники. Вплив ціни на перехід від тріалу до першої оплати невідомий.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9035aa39a9464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5E923-C090-426F-BD0A-326A271C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313C"/>
                </a:solidFill>
              </a:defRPr>
            </a:pPr>
            <a:r>
              <a:rPr sz="975" b="1">
                <a:solidFill>
                  <a:srgbClr val="27313C"/>
                </a:solidFill>
              </a:rPr>
              <a:t>$1.32M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99E33-84CA-4148-968B-8524A4E8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98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313C"/>
                </a:solidFill>
              </a:defRPr>
            </a:pPr>
            <a:r>
              <a:rPr sz="975" b="1">
                <a:solidFill>
                  <a:srgbClr val="27313C"/>
                </a:solidFill>
              </a:rPr>
              <a:t>$1.43M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B48720-F192-489A-BF61-25DB246B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859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313C"/>
                </a:solidFill>
              </a:defRPr>
            </a:pPr>
            <a:r>
              <a:rPr sz="975" b="1">
                <a:solidFill>
                  <a:srgbClr val="27313C"/>
                </a:solidFill>
              </a:rPr>
              <a:t>$1.89M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8A201-1845-4E04-982B-99EFEE05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2669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69F00"/>
                </a:solidFill>
              </a:defRPr>
            </a:pPr>
            <a:r>
              <a:rPr sz="900" b="1">
                <a:solidFill>
                  <a:srgbClr val="E69F00"/>
                </a:solidFill>
              </a:rPr>
              <a:t>+$107 тис.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98987-5AA9-4468-87B2-1CD296DD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95450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55E00"/>
                </a:solidFill>
              </a:defRPr>
            </a:pPr>
            <a:r>
              <a:rPr sz="900" b="1">
                <a:solidFill>
                  <a:srgbClr val="D55E00"/>
                </a:solidFill>
              </a:rPr>
              <a:t>не отримали $461 тис.</a:t>
            </a:r>
          </a:p>
        </p:txBody>
      </p:sp>
    </p:spTree>
    <p:extLst>
      <p:ext uri="{BB962C8B-B14F-4D97-AF65-F5344CB8AC3E}">
        <p14:creationId xmlns:p14="http://schemas.microsoft.com/office/powerpoint/2010/main" val="191296711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F451D0F-228D-4348-A9DA-C5DAF526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5204F3-D9EF-4A77-B8E9-ADA979F3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4 · ОКУПНІСТЬ РЕКЛАМИ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467F7D0-8A16-453A-9AA2-4345DE4F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55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Реклама окупається в цілому; Google EU — перевірити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685F43A-A2CD-4905-BC6A-A5BFDF2B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9164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Скільки повертає $1 реклами: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6492240" y="2057400"/>
          <a:ext xmlns:a="http://schemas.openxmlformats.org/drawingml/2006/main" cx="5166360" cy="21945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33272"/>
                <a:gridCol w="1033272"/>
                <a:gridCol w="1033272"/>
                <a:gridCol w="1033272"/>
                <a:gridCol w="1033272"/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Канал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 6.99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 9.99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 6.99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 9.99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Facebook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1.60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1.23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2.01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1.94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Google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D55E00"/>
                          </a:solidFill>
                          <a:latin typeface="Calibri"/>
                          <a:ea typeface="Calibri"/>
                          <a:cs typeface="Calibri"/>
                        </a:rPr>
                        <a:t>0.88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D55E00"/>
                          </a:solidFill>
                          <a:latin typeface="Calibri"/>
                          <a:ea typeface="Calibri"/>
                          <a:cs typeface="Calibri"/>
                        </a:rPr>
                        <a:t>0.89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1.19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1.46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TikTok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1.83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1.54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2.37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2.31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Organic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11.2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10.0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12.9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12.1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DC5FC1-3AFC-487D-A39F-B90C8B37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389120"/>
            <a:ext cx="51663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Показник 1 означає: $1 реклами повертає $1 доходу. Цифри Google EU $0.88–0.89 — орієнтир: витрати Google відомі, але окремого доходу саме цих клієнтів у даних немає.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A7E9D98-0F06-4C4F-8482-ECE11084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66360"/>
            <a:ext cx="11155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EU: окупність знизилась на 13.6%; USA — майже без змін.  Google EU нижче 1 на обох цінах — перевірити якість трафіку та фактичний дохід цих клієнтів.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85800" y="1666875"/>
          <a:ext xmlns:a="http://schemas.openxmlformats.org/drawingml/2006/main" cx="5381625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e6d63e044e4dd9"/>
          </a:graphicData>
        </a:graphic>
      </p:graphicFrame>
    </p:spTree>
    <p:extLst>
      <p:ext uri="{BB962C8B-B14F-4D97-AF65-F5344CB8AC3E}">
        <p14:creationId xmlns:p14="http://schemas.microsoft.com/office/powerpoint/2010/main" val="16591113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421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D89420-D998-4C68-8E62-1C5A9AA4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Що робити з цінами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2F5524C-1FCB-46FC-9FBE-4A60EAE1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5349240" cy="201168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D2F3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44459CF-54A1-48C5-808D-77DB861C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5586FE9-3C7B-4629-AD22-2C98B35F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801368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EU — відкотити 9.99 і перетестувати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37E6E9-2BBE-49D9-B7FC-41E8FCFF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77440"/>
            <a:ext cx="42976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На 9.99 доплату $15 купують на 32% рідше, а дохід з платника нижчий на 2.3%. Наступний крок — тест проміжної ціни.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CF857FF-B833-4D88-9C95-319A28B8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00200"/>
            <a:ext cx="5349240" cy="201168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D2F3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AA156B3-B94B-4CEA-8511-1D8B542C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83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53A77C-4D05-498C-8A76-23195601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01368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USA — залишити 9.99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7742211-15B7-4F02-A94D-FE5BA7F4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377440"/>
            <a:ext cx="42976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Дохід з платника вищий на 16.3%, окупність реклами майже не змінилась. Результат варто підтвердити новим тестом.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5D704E7-3A06-4397-B5DD-9942ED3D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5349240" cy="201168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D2F3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321CA9D-1A8E-483B-AFDC-7E6EAA56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2336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5ED48E6-90F1-4FAA-BDF8-97743E2B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041648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Tier1 — спочатку протестувати 9.99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A1A2496-9A6C-451D-92CC-28BBC662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617720"/>
            <a:ext cx="42976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У початковому A/B-тесті регіон не отримав нову ціну, тому підстав для рішення поки немає.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64FDEDC-BAC9-48CA-934F-5D899870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840480"/>
            <a:ext cx="5349240" cy="201168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D2F3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5406562-2E12-4582-8BFB-65EB58C4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2336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B03F771-1887-46C7-9D81-BA32BDB4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041648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Нові тести — рахувати всі гроші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8196BED-83E5-4374-9EAB-ADA10BFE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617720"/>
            <a:ext cx="429768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В одному рішенні дивитись покупку, доплату $15, повторні платежі, повернення коштів і рекламу.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2C26905-5EE8-4CDC-ADAE-EF396E6B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26364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Підсумок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ціна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всіх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регіонів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працює</a:t>
            </a: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674155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2026-07-20T18:04:22.0770000Z</dcterms:created>
  <dcterms:modified xsi:type="dcterms:W3CDTF">2026-07-20T18:04:22.0770000Z</dcterms:modified>
</coreProperties>
</file>