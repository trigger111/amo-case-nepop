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Пів року тому компанія підняла ціну на 42.9%, бо тест показав, що конверсія не впала. CEO не бачить цих відсотків у виручці. Я перевірив повний ланцюжок: конверсію, LTV, фактичний Revenue і окупність реклами. Коротка відповідь: гроші виросли, але в 17 разів слабше за обіцянку, а в Європі нова ціна взагалі шкодить.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Контекст: рішення ухвалили за однією метрикою — конверсією. Одночасно три команди скаржаться на симптоми. Моє завдання — перевірити рішення по всьому ланцюжку грошей.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Якщо запам'ятати один слайд — цей. LTV виріс на 2.5% замість 42.9%. Грошей за вікно отримали 16% від обіцяного приросту. А в Європі нова ціна знищує цінність юзера — там LTV нижчий, ніж на старій ціні.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Чотири проблеми даних знайдено і виправлено. Найцінніша — контамінація Tier1: регіон не отримав нову ціну, тож став природним A/A-контролем. Він тричі підтвердив, що методологія чиста: скрізь, де ефекту бути не повинно, його й немає.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Перше питання кейсу: чи правильно тоді прочитали тест? Формулюю акуратно: статистично значущого погіршення конверсії не виявлено, а довірчий інтервал виключає падіння більше ніж 0.17 пункта в EU і 0.33 в USA. Тобто помітного падіння точно немає — у цій частині компанія була права. Але це була єдина метрика, яку вони дивились.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 ось що не перевірили. Апсел показують лише покупцям, і в EU його attach упав з 24.6% до 16.4% — мінус третина, p менше 0.0001. Це перший механізм, через який +42.9% не могли справдитись.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Важливий момент для очікувань: п'ята частина цінності юзера — фіксований апсел $15, який з ціною не росте. Тому навіть без жодних змін поведінки максимум був близько +34%, а не +42.9%. Частина «недобору» — не проблема бізнесу, а хибний бенчмарк. Рахую на зрілій когорті розкатки, узгоджено з водоспадом LTV на наступному слайді.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Друге питання кейсу — LTV на 1.5 місяця, з рефандами, чарджбеками і апселом. Наївне очікування $24.71, факт $17.72. Водоспад показує внесок кожної причини: retention коштує вчетверо дорожче за все інше. Скарга сапорту реальна, але фінансово другорядна.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Ось він — головний механізм. До другого списання на старій ціні доживає 49%, на новій — 31%. Я перевірив по тижневих когортах: розрив стабільний, це системна поведінка, а не разовий сплеск.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 розрізі регіонів вся проблема сидить у Європі: мінус 2.3% LTV. Штати і Other у плюсі, хоч і далеко від обіцянки. Це той самий регіон, де обвалився апсел — реакція ринку на ціну послідовна.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Третє питання: скільки грошей. Тут два різні питання, і я їх розділяю: повна календарна каса за вікно — звірена в ноутбуці по всіх списаннях; а для чесного порівняння цін беру зіставні когорти вікна — стартерів 26.01–16.03 та їхні списання. Порівняно зі світом без підвищення компанія у плюсі на 93 тисячі — рішення не провальне. Але обіцянка +42.9% коштувала б +584 тисячі, отримали 16% обіцяного. Оцінка — на спостережених платниках; конверсію тріал-платіж по армах дані не показують.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Останнє питання — окупність залучення. По регіонах: у EU окупність погіршилась з обох боків дробу, в USA — покращилась. Але канальний розріз показує головне: Google-EU нижче одиниці на обох цінах — це збитковий канал незалежно від цінового рішення, окремий кандидат на оптимізацію закупівлі. Щодо CPC: дорожчим у test-армі був лише Facebook; формулюю це як кореляцію — узгоджену з value-based bidding — а не доведену причинність. Застереження: канального LTV у даних немає, цінність переношу з регіон-ціна.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Підсумок. Диференціювати ціни: у Європі нова ціна знижує і цінність юзера, і окупність — відкат або тест проміжної ціни; конкретний рівень (наприклад 7.99) — гіпотеза для наступного тесту, а не розрахунок. Штатам — лишити 9.99. Tier1 — спершу полагодити доставку ціни, він нову ціну ще не бачив. І процесний висновок: цінові рішення ухвалювати за повною економікою — апсел, retention, рефанди, CAC — а не за однією метрикою. Дякую — готовий до питань.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7498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Ціна 6.99 → 9.99:</a:t>
            </a:r>
            <a:endParaRPr lang="en-US" sz="44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сталося насправді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40080" y="35204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Аудит цінового рішення: конверсія · LTV · Revenue · ROAS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Олександр Непоп  ·  Genesis Analytics Camp 3.0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595360" y="21488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обіцяли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595360" y="24688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445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+42.9%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8595360" y="35204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отримали (ріст LTV49)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595360" y="38404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E69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+2.5%</a:t>
            </a:r>
            <a:endParaRPr lang="en-US" sz="6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02336"/>
            <a:ext cx="109728" cy="109728"/>
          </a:xfrm>
          <a:prstGeom prst="ellipse">
            <a:avLst/>
          </a:prstGeom>
          <a:solidFill>
            <a:srgbClr val="0072B2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926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7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сталося і про що питає CEO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63093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Продукт: підписка на тренування, $6.99/тиждень, ринки USA / EU / Tier-1.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Пів року тому: A/B-тест 6.99 vs 9.99 → «конверсія не впала» → ціну підняли.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Після тесту 9.99 розкатили на 50% трафіку.</a:t>
            </a:r>
            <a:endParaRPr lang="en-US" sz="15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Скарги команд: мобайл — «просів retention», сапорт — «більше рефандів», маркетинг — «залучення подорожчало».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223760" y="1828800"/>
            <a:ext cx="4389120" cy="3108960"/>
          </a:xfrm>
          <a:prstGeom prst="roundRect">
            <a:avLst>
              <a:gd name="adj" fmla="val 2941"/>
            </a:avLst>
          </a:prstGeom>
          <a:solidFill>
            <a:srgbClr val="EFF6FB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0" y="2148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Питання CEO: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498080" y="2606040"/>
            <a:ext cx="3840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«Ціна +42%, а в Revenue такого росту немає.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i="1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 тоді ухвалили правильне рішення?»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02336"/>
            <a:ext cx="109728" cy="109728"/>
          </a:xfrm>
          <a:prstGeom prst="ellipse">
            <a:avLst/>
          </a:prstGeom>
          <a:solidFill>
            <a:srgbClr val="E69F00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926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9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TL;DR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числа замість тисячі слів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FDF6E6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84248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69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+2.5%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777240" y="320040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ріст LTV на юзера (49 днів)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замість обіцяних +42.9%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43400" y="178308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EFF6FB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1984248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07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16%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4572000" y="320040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обіцяного приросту грошей отримано: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+$93 тис. із +$584 тис. за 7 тижнів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138160" y="178308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FBEEE7"/>
          </a:solidFill>
          <a:ln/>
        </p:spPr>
      </p:sp>
      <p:sp>
        <p:nvSpPr>
          <p:cNvPr id="12" name="Text 10"/>
          <p:cNvSpPr/>
          <p:nvPr/>
        </p:nvSpPr>
        <p:spPr>
          <a:xfrm>
            <a:off x="8366760" y="1984248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D55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−2.3%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8366760" y="3200400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у EU на новій ціні нижчий: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−$0.40/юзера (95% CI −0.71…−0.09)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48640" y="466344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Вердикт: </a:t>
            </a:r>
            <a:pPr indent="0" marL="0">
              <a:buNone/>
            </a:pPr>
            <a:r>
              <a:rPr lang="en-US" sz="1600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рішення не збиткове, але обіцянка була недосяжною, а в EU нова ціна шкодить.  </a:t>
            </a:r>
            <a:pPr indent="0" marL="0">
              <a:buNone/>
            </a:pPr>
            <a:r>
              <a:rPr lang="en-US" sz="1600" b="1" dirty="0">
                <a:solidFill>
                  <a:srgbClr val="007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Рекомендація: диференціювати ціни по регіонах.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02336"/>
            <a:ext cx="109728" cy="109728"/>
          </a:xfrm>
          <a:prstGeom prst="ellipse">
            <a:avLst/>
          </a:prstGeom>
          <a:solidFill>
            <a:srgbClr val="0072B2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926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7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ДАНІ І МЕТОДОЛОГІЯ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Спершу почистили дані — потім рахували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457200" cy="457200"/>
          </a:xfrm>
          <a:prstGeom prst="ellipse">
            <a:avLst/>
          </a:prstGeom>
          <a:solidFill>
            <a:srgbClr val="0072B2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178308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Дублі.  </a:t>
            </a:r>
            <a:pPr indent="0" marL="0">
              <a:buNone/>
            </a:pPr>
            <a:r>
              <a:rPr lang="en-US" sz="1350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1 131 повний дубль рядків видалено (усі — control/click).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761488"/>
            <a:ext cx="457200" cy="457200"/>
          </a:xfrm>
          <a:prstGeom prst="ellipse">
            <a:avLst/>
          </a:prstGeom>
          <a:solidFill>
            <a:srgbClr val="0072B2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761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34440" y="2715768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«Одноногий» день.  </a:t>
            </a:r>
            <a:pPr indent="0" marL="0">
              <a:buNone/>
            </a:pPr>
            <a:r>
              <a:rPr lang="en-US" sz="1350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09.01 працював лише control (4 073 клікери) — баг сплітовалки, день виключено.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48640" y="3694176"/>
            <a:ext cx="457200" cy="457200"/>
          </a:xfrm>
          <a:prstGeom prst="ellipse">
            <a:avLst/>
          </a:prstGeom>
          <a:solidFill>
            <a:srgbClr val="0072B2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694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34440" y="3648456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Валідне вікно тесту.  </a:t>
            </a:r>
            <a:pPr indent="0" marL="0">
              <a:buNone/>
            </a:pPr>
            <a:r>
              <a:rPr lang="en-US" sz="1350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10–24.01 — визначено за динамікою подій, а не за діапазоном файлу.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4626864"/>
            <a:ext cx="457200" cy="457200"/>
          </a:xfrm>
          <a:prstGeom prst="ellipse">
            <a:avLst/>
          </a:prstGeom>
          <a:solidFill>
            <a:srgbClr val="0072B2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626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34440" y="4581144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Контамінація Tier1.  </a:t>
            </a:r>
            <a:pPr indent="0" marL="0">
              <a:buNone/>
            </a:pPr>
            <a:r>
              <a:rPr lang="en-US" sz="1350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тест-арм Tier1 так і не побачив 9.99 → регіон виключено з цінових порівнянь.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7406640" y="1783080"/>
            <a:ext cx="4206240" cy="3657600"/>
          </a:xfrm>
          <a:prstGeom prst="roundRect">
            <a:avLst>
              <a:gd name="adj" fmla="val 2500"/>
            </a:avLst>
          </a:prstGeom>
          <a:solidFill>
            <a:srgbClr val="F2F4F6"/>
          </a:solidFill>
          <a:ln/>
        </p:spPr>
      </p:sp>
      <p:sp>
        <p:nvSpPr>
          <p:cNvPr id="18" name="Text 16"/>
          <p:cNvSpPr/>
          <p:nvPr/>
        </p:nvSpPr>
        <p:spPr>
          <a:xfrm>
            <a:off x="7680960" y="20116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Бонус знахідки: Tier1 = випадковий A/A-контроль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680960" y="2697480"/>
            <a:ext cx="365760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Ціна там не змінювалась → різниць бути не повинно. Перевірка спрацювала тричі: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конверсія: різниця = шум (p=0.23)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апсел: різниця = шум (p=0.91)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CPC реклами: різниці немає (−1.6%)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Хибних спрацювань немає — вимірюванням можна довіряти (sanity-check).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02336"/>
            <a:ext cx="109728" cy="109728"/>
          </a:xfrm>
          <a:prstGeom prst="ellipse">
            <a:avLst/>
          </a:prstGeom>
          <a:solidFill>
            <a:srgbClr val="0072B2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926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7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ЗАВДАННЯ 1 · КОНВЕРСІЯ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Значущого падіння конверсії не виявлено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6583680" cy="237744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</a:tblGrid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631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Регіон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631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 control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631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 test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631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p-value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631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631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5.22%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631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5.43%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631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 — шум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631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631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631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7.14%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631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 — шум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631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Tier1 (A/A, обидві 6.99)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631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6.36%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631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6.92%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631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 — шум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589520" y="1920240"/>
            <a:ext cx="4023360" cy="2377440"/>
          </a:xfrm>
          <a:prstGeom prst="roundRect">
            <a:avLst>
              <a:gd name="adj" fmla="val 3846"/>
            </a:avLst>
          </a:prstGeom>
          <a:solidFill>
            <a:srgbClr val="EFF6FB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7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863840" y="288036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Компанія прочитала свій тест коректно: значущого погіршення немає, помітне падіння дані виключають.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457200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Two-proportion z-тест, вікно 10–24.01. 95% CI різниці (test − control): EU [−0.17; +0.57] п.п., USA [−0.33; +0.62] п.п. — тобто падіння більше ~0.2–0.3 п.п. дані виключають; p&gt;0.05 не є «доказом рівності».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02336"/>
            <a:ext cx="109728" cy="109728"/>
          </a:xfrm>
          <a:prstGeom prst="ellipse">
            <a:avLst/>
          </a:prstGeom>
          <a:solidFill>
            <a:srgbClr val="D55E00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926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55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ЗАВДАННЯ 1 · АПСЕЛ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…але апсел у EU обвалився на третину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D55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−33%</a:t>
            </a:r>
            <a:endParaRPr lang="en-US" sz="8000" dirty="0"/>
          </a:p>
        </p:txBody>
      </p:sp>
      <p:sp>
        <p:nvSpPr>
          <p:cNvPr id="6" name="Text 4"/>
          <p:cNvSpPr/>
          <p:nvPr/>
        </p:nvSpPr>
        <p:spPr>
          <a:xfrm>
            <a:off x="548640" y="329184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конверсії в апсел (OTP, $15) у EU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CI [−11.1; −5.4] п.п. · p &lt; 0.0001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1874520"/>
          <a:ext cx="6766560" cy="2377440"/>
        </p:xfrm>
        <a:graphic>
          <a:graphicData uri="http://schemas.openxmlformats.org/drawingml/2006/table">
            <a:tbl>
              <a:tblPr/>
              <a:tblGrid>
                <a:gridCol w="1691640"/>
                <a:gridCol w="1691640"/>
                <a:gridCol w="1691640"/>
                <a:gridCol w="1691640"/>
              </a:tblGrid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631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Регіон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631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attach control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631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attach test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631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висновок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631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631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631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631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−33% · значуще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631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631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631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631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нахил вниз, не значуще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631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Tier1 (A/A, обидві 6.99)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631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631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631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чисто (p=0.91)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48640" y="45720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Дорожча підписка «з'їдає» готовність доплачувати $15 зверху. Компанія цю метрику не перевіряла жодного разу.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02336"/>
            <a:ext cx="109728" cy="109728"/>
          </a:xfrm>
          <a:prstGeom prst="ellipse">
            <a:avLst/>
          </a:prstGeom>
          <a:solidFill>
            <a:srgbClr val="0072B2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926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7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ЧОМУ +42.9% БУЛИ НЕМОЖЛИВІ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Підняли ціну лише частині виручки — а чекали ріст від усієї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874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LTV49 юзера (ціна 6.99, зріла когорта розкатки):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286000"/>
            <a:ext cx="5779008" cy="1005840"/>
          </a:xfrm>
          <a:prstGeom prst="rect">
            <a:avLst/>
          </a:prstGeom>
          <a:solidFill>
            <a:srgbClr val="0072B2"/>
          </a:solidFill>
          <a:ln/>
        </p:spPr>
      </p:sp>
      <p:sp>
        <p:nvSpPr>
          <p:cNvPr id="7" name="Shape 5"/>
          <p:cNvSpPr/>
          <p:nvPr/>
        </p:nvSpPr>
        <p:spPr>
          <a:xfrm>
            <a:off x="6373368" y="2286000"/>
            <a:ext cx="1563624" cy="1005840"/>
          </a:xfrm>
          <a:prstGeom prst="rect">
            <a:avLst/>
          </a:prstGeom>
          <a:solidFill>
            <a:srgbClr val="E69F00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395728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підписка · 79%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росте на +42.9%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73952" y="2395728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OTP · 21%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$15, не росте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48640" y="3657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Ріст цілого = середньозважений ріст частин: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406908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42.9% × 0.79  +  0% × 0.21  ≈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760720" y="379476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+34%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8138160" y="39776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стеля росту LTV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A8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змін поведінки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595360" y="2011680"/>
            <a:ext cx="3063240" cy="1463040"/>
          </a:xfrm>
          <a:prstGeom prst="roundRect">
            <a:avLst>
              <a:gd name="adj" fmla="val 6250"/>
            </a:avLst>
          </a:prstGeom>
          <a:solidFill>
            <a:srgbClr val="FBEEE7"/>
          </a:solidFill>
          <a:ln/>
        </p:spPr>
      </p:sp>
      <p:sp>
        <p:nvSpPr>
          <p:cNvPr id="15" name="Text 13"/>
          <p:cNvSpPr/>
          <p:nvPr/>
        </p:nvSpPr>
        <p:spPr>
          <a:xfrm>
            <a:off x="8823960" y="2148840"/>
            <a:ext cx="2651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55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Бенчмарк «+42.9%» не враховував revenue mix — він був недосяжний від початку.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8640" y="52120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 ще ДО будь-яких змін поведінки — чиста арифметика. Узгоджено з водоспадом далі: крок «механіка OTP» −$1.53 = ті самі ~9 п.п.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02336"/>
            <a:ext cx="109728" cy="109728"/>
          </a:xfrm>
          <a:prstGeom prst="ellipse">
            <a:avLst/>
          </a:prstGeom>
          <a:solidFill>
            <a:srgbClr val="E69F00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926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9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ЗАВДАННЯ 2 · LTV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за 49 днів: +2.5% замість +42.9%</a:t>
            </a:r>
            <a:endParaRPr lang="en-US" sz="3000" dirty="0"/>
          </a:p>
        </p:txBody>
      </p:sp>
      <p:pic>
        <p:nvPicPr>
          <p:cNvPr id="5" name="Image 0" descr="C:\Users\Miller\AppData\Local\Temp\claude\C--Users-Miller-Desktop-amo-case-nepop\aec1882d-a317-45bb-b012-96f699d178f4\scratchpad\pptx_build\c_waterf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00200"/>
            <a:ext cx="8138160" cy="390448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869680" y="1828800"/>
            <a:ext cx="2834640" cy="3291840"/>
          </a:xfrm>
          <a:prstGeom prst="roundRect">
            <a:avLst>
              <a:gd name="adj" fmla="val 3226"/>
            </a:avLst>
          </a:prstGeom>
          <a:solidFill>
            <a:srgbClr val="F2F4F6"/>
          </a:solidFill>
          <a:ln/>
        </p:spPr>
      </p:sp>
      <p:sp>
        <p:nvSpPr>
          <p:cNvPr id="7" name="Text 4"/>
          <p:cNvSpPr/>
          <p:nvPr/>
        </p:nvSpPr>
        <p:spPr>
          <a:xfrm>
            <a:off x="9098280" y="2011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Куди зникли $6.99/юзера: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098280" y="2560320"/>
            <a:ext cx="24688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55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 −$4.08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механіка OTP  −$1.53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канібалізація  −$0.94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рефанди  −$0.40</a:t>
            </a:r>
            <a:endParaRPr lang="en-US" sz="13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чарджбеки  −$0.04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7A8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Рефанди реальні, але ×8 менші за retention.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02336"/>
            <a:ext cx="109728" cy="109728"/>
          </a:xfrm>
          <a:prstGeom prst="ellipse">
            <a:avLst/>
          </a:prstGeom>
          <a:solidFill>
            <a:srgbClr val="D55E00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926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55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ЗАВДАННЯ 2 · ГОЛОВНИЙ ВИНУВАТЕЦЬ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Retention: на 9.99 юзери йдуть швидше</a:t>
            </a:r>
            <a:endParaRPr lang="en-US" sz="3000" dirty="0"/>
          </a:p>
        </p:txBody>
      </p:sp>
      <p:pic>
        <p:nvPicPr>
          <p:cNvPr id="5" name="Image 0" descr="C:\Users\Miller\AppData\Local\Temp\claude\C--Users-Miller-Desktop-amo-case-nepop\aec1882d-a317-45bb-b012-96f699d178f4\scratchpad\pptx_build\c_reten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45920"/>
            <a:ext cx="7315200" cy="37398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138160" y="192024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49% vs 31%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8138160" y="265176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доживають до другого платежу (6.99 проти 9.99)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38160" y="3383280"/>
            <a:ext cx="347472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Розрив 16–20 п.п. стабільний у всіх тижневих когортах — не артефакт однієї хвилі.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Гіпотеза мобільної команди підтверджена.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02336"/>
            <a:ext cx="109728" cy="109728"/>
          </a:xfrm>
          <a:prstGeom prst="ellipse">
            <a:avLst/>
          </a:prstGeom>
          <a:solidFill>
            <a:srgbClr val="D55E00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926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55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ЗАВДАННЯ 2 · СЕГМЕНТИ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 сконцентрована в EU</a:t>
            </a:r>
            <a:endParaRPr lang="en-US" sz="3000" dirty="0"/>
          </a:p>
        </p:txBody>
      </p:sp>
      <p:pic>
        <p:nvPicPr>
          <p:cNvPr id="5" name="Image 0" descr="C:\Users\Miller\AppData\Local\Temp\claude\C--Users-Miller-Desktop-amo-case-nepop\aec1882d-a317-45bb-b012-96f699d178f4\scratchpad\pptx_build\c_ltv_reg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45920"/>
            <a:ext cx="7315200" cy="37398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138160" y="192024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55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−2.3%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8138160" y="26974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на 9.99 нижчий: −$0.40/юзера, 95% CI [−0.71; −0.09] — зниження статистично підтверджене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138160" y="3657600"/>
            <a:ext cx="347472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 +16.3%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 +13.5%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7A8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Той самий регіон EU, де значуще впав апсел. Один ринок — інша реакція.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02336"/>
            <a:ext cx="109728" cy="109728"/>
          </a:xfrm>
          <a:prstGeom prst="ellipse">
            <a:avLst/>
          </a:prstGeom>
          <a:solidFill>
            <a:srgbClr val="0072B2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926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7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ЗАВДАННЯ 3 · ГРОШІ ЗА 26.01–16.03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Заробили +$93 тис. — з обіцяних +$584 тис.</a:t>
            </a:r>
            <a:endParaRPr lang="en-US" sz="3000" dirty="0"/>
          </a:p>
        </p:txBody>
      </p:sp>
      <p:pic>
        <p:nvPicPr>
          <p:cNvPr id="5" name="Image 0" descr="C:\Users\Miller\AppData\Local\Temp\claude\C--Users-Miller-Desktop-amo-case-nepop\aec1882d-a317-45bb-b012-96f699d178f4\scratchpad\pptx_build\c_worl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45920"/>
            <a:ext cx="7315200" cy="39136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046720" y="1920240"/>
            <a:ext cx="365760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69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+$93 тис.</a:t>
            </a:r>
            <a:endParaRPr lang="en-US" sz="3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250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проти світу «лишились на 6.99» — рішення не збиткове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D55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−$491 тис.</a:t>
            </a:r>
            <a:endParaRPr lang="en-US" sz="3000" dirty="0"/>
          </a:p>
          <a:p>
            <a:pPr indent="0" marL="0">
              <a:buNone/>
            </a:pPr>
            <a:r>
              <a:rPr lang="en-US" sz="1250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недобір до обіцянки за 7 тижнів; ARPU виріс лише на +6.8%</a:t>
            </a:r>
            <a:endParaRPr lang="en-US" sz="3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02336"/>
            <a:ext cx="109728" cy="109728"/>
          </a:xfrm>
          <a:prstGeom prst="ellipse">
            <a:avLst/>
          </a:prstGeom>
          <a:solidFill>
            <a:srgbClr val="0072B2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926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72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ЗАВДАННЯ 4 · ОКУПНІСТЬ РЕКЛАМИ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621792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ROAS: регіони окупні, але Google-EU — ні</a:t>
            </a:r>
            <a:endParaRPr lang="en-US" sz="3000" dirty="0"/>
          </a:p>
        </p:txBody>
      </p:sp>
      <p:pic>
        <p:nvPicPr>
          <p:cNvPr id="5" name="Image 0" descr="C:\Users\Miller\AppData\Local\Temp\claude\C--Users-Miller-Desktop-amo-case-nepop\aec1882d-a317-45bb-b012-96f699d178f4\scratchpad\pptx_build\c_ro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91640"/>
            <a:ext cx="5760720" cy="29443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92240" y="16916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ROAS49 по каналах: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2057400"/>
          <a:ext cx="5166360" cy="914400"/>
        </p:xfrm>
        <a:graphic>
          <a:graphicData uri="http://schemas.openxmlformats.org/drawingml/2006/table">
            <a:tbl>
              <a:tblPr/>
              <a:tblGrid>
                <a:gridCol w="1033272"/>
                <a:gridCol w="1033272"/>
                <a:gridCol w="1033272"/>
                <a:gridCol w="1033272"/>
                <a:gridCol w="1033272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631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Канал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631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 6.99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631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 9.99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631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 6.99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631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 9.99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631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Facebook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631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631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631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631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631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D55E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D55E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631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631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631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TikTok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631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631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631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631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631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631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631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631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631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6492240" y="438912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8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по каналу — міст із регіон × ціна (канального LTV в даних немає). Tier1 не показано: малі вибірки.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548640" y="507492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EU: 1.29 → 1.21 (−6.7%), USA: 1.82 → 2.00 (+9.6%).  </a:t>
            </a:r>
            <a:pPr indent="0" marL="0">
              <a:buNone/>
            </a:pPr>
            <a:r>
              <a:rPr lang="en-US" sz="1350" b="1" dirty="0">
                <a:solidFill>
                  <a:srgbClr val="D55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Google-EU нижче одиниці на ОБОХ цінах — збитковий канал незалежно від ціни.  </a:t>
            </a:r>
            <a:pPr indent="0" marL="0">
              <a:buNone/>
            </a:pPr>
            <a:r>
              <a:rPr lang="en-US" sz="1350" dirty="0">
                <a:solidFill>
                  <a:srgbClr val="263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Facebook-кліки в test-армі дорожчі на +13.5% (кореляція: в A/A різниці немає).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робити з цінами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600200"/>
            <a:ext cx="5349240" cy="2011680"/>
          </a:xfrm>
          <a:prstGeom prst="roundRect">
            <a:avLst>
              <a:gd name="adj" fmla="val 4545"/>
            </a:avLst>
          </a:prstGeom>
          <a:solidFill>
            <a:srgbClr val="1D2F3D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9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508760" y="180136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— відкотити або перетестувати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1508760" y="2377440"/>
            <a:ext cx="4297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9.99 знижує апсел (−33%), LTV (−$0.40, CI виключає нуль) і ROAS (−6.7%). Наступний крок — тест проміжної ціни (напр., 7.99): це гіпотеза для тесту, а не розрахована рекомендація.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63640" y="1600200"/>
            <a:ext cx="5349240" cy="2011680"/>
          </a:xfrm>
          <a:prstGeom prst="roundRect">
            <a:avLst>
              <a:gd name="adj" fmla="val 4545"/>
            </a:avLst>
          </a:prstGeom>
          <a:solidFill>
            <a:srgbClr val="1D2F3D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132320" y="180136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— лишити 9.99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7132320" y="2377440"/>
            <a:ext cx="4297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Ринок переварив підвищення: LTV +16.3%, ROAS +9.6%. Відкат означав би відмову від реального приросту.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840480"/>
            <a:ext cx="5349240" cy="2011680"/>
          </a:xfrm>
          <a:prstGeom prst="roundRect">
            <a:avLst>
              <a:gd name="adj" fmla="val 4545"/>
            </a:avLst>
          </a:prstGeom>
          <a:solidFill>
            <a:srgbClr val="1D2F3D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4023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508760" y="404164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Tier1 — полагодити доставку ціни, потім тест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508760" y="4617720"/>
            <a:ext cx="4297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Регіон жодного разу не бачив 9.99 (баг розкатки). За даними розкатки Other реагує схоже на USA — тест перспективний.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63640" y="3840480"/>
            <a:ext cx="5349240" cy="2011680"/>
          </a:xfrm>
          <a:prstGeom prst="roundRect">
            <a:avLst>
              <a:gd name="adj" fmla="val 4545"/>
            </a:avLst>
          </a:prstGeom>
          <a:solidFill>
            <a:srgbClr val="1D2F3D"/>
          </a:solidFill>
          <a:ln/>
        </p:spPr>
      </p:sp>
      <p:sp>
        <p:nvSpPr>
          <p:cNvPr id="16" name="Text 14"/>
          <p:cNvSpPr/>
          <p:nvPr/>
        </p:nvSpPr>
        <p:spPr>
          <a:xfrm>
            <a:off x="6492240" y="4023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7132320" y="404164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Процес — тестувати повну економіку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7132320" y="4617720"/>
            <a:ext cx="4297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наступних цінових тестах дивитись апсел, retention, рефанди і CAC, а не лише конверсію: саме там зникли 5/6 обіцяного росту.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Розрахунки відтворюються: amo_case_analysis.ipynb (Run All)  ·  методологія і висновки: README.md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2026-07-20T05:55:58Z</dcterms:created>
  <dcterms:modified xsi:type="dcterms:W3CDTF">2026-07-20T05:55:58Z</dcterms:modified>
</cp:coreProperties>
</file>